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20"/>
    <p:sldId id="270" r:id="rId21"/>
    <p:sldId id="265" r:id="rId11"/>
    <p:sldId id="266" r:id="rId12"/>
    <p:sldId id="267" r:id="rId13"/>
    <p:sldId id="268" r:id="rId19"/>
    <p:sldId id="27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594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58" y="-1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33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06440"/>
            <a:ext cx="3794760" cy="1051560"/>
          </a:xfrm>
          <a:prstGeom prst="rect">
            <a:avLst/>
          </a:prstGeom>
          <a:solidFill>
            <a:srgbClr val="123B59">
              <a:alpha val="72000"/>
            </a:srgbClr>
          </a:solidFill>
          <a:ln w="12700">
            <a:solidFill>
              <a:srgbClr val="123B59">
                <a:alpha val="0"/>
              </a:srgbClr>
            </a:solidFill>
            <a:prstDash val="solid"/>
          </a:ln>
        </p:spPr>
      </p:sp>
      <p:pic>
        <p:nvPicPr>
          <p:cNvPr id="4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4796"/>
            <a:ext cx="1600200" cy="5837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25296"/>
            <a:ext cx="2468880" cy="3977640"/>
          </a:xfrm>
          <a:prstGeom prst="roundRect">
            <a:avLst>
              <a:gd name="adj" fmla="val 8148"/>
            </a:avLst>
          </a:prstGeom>
          <a:solidFill>
            <a:srgbClr val="E9D5BF"/>
          </a:solidFill>
          <a:ln w="12700">
            <a:solidFill>
              <a:srgbClr val="E9D5BF"/>
            </a:solidFill>
            <a:prstDash val="solid"/>
          </a:ln>
        </p:spPr>
      </p:sp>
      <p:pic>
        <p:nvPicPr>
          <p:cNvPr id="6" name="Image 1" descr="/mnt/data/avatar.png"/>
          <p:cNvPicPr>
            <a:picLocks noChangeAspect="1"/>
          </p:cNvPicPr>
          <p:nvPr/>
        </p:nvPicPr>
        <p:blipFill>
          <a:blip r:embed="rId4"/>
          <a:srcRect l="3486" r="3486"/>
          <a:stretch/>
        </p:blipFill>
        <p:spPr>
          <a:xfrm>
            <a:off x="713232" y="1298448"/>
            <a:ext cx="2359152" cy="38039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26280" y="914400"/>
            <a:ext cx="6903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دستیار هوشمند تخصصی آرتین آزما</a:t>
            </a:r>
            <a:endParaRPr lang="en-US" sz="2900" dirty="0"/>
          </a:p>
        </p:txBody>
      </p:sp>
      <p:sp>
        <p:nvSpPr>
          <p:cNvPr id="8" name="Text 4"/>
          <p:cNvSpPr/>
          <p:nvPr/>
        </p:nvSpPr>
        <p:spPr>
          <a:xfrm>
            <a:off x="4828032" y="1719072"/>
            <a:ext cx="65836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معرفی محصول، قابلیت‌ها و وضعیت عملیاتی</a:t>
            </a:r>
            <a:endParaRPr lang="en-US" sz="1420" dirty="0"/>
          </a:p>
        </p:txBody>
      </p:sp>
      <p:sp>
        <p:nvSpPr>
          <p:cNvPr id="9" name="Shape 5"/>
          <p:cNvSpPr/>
          <p:nvPr/>
        </p:nvSpPr>
        <p:spPr>
          <a:xfrm>
            <a:off x="8979408" y="2340864"/>
            <a:ext cx="1783080" cy="329184"/>
          </a:xfrm>
          <a:prstGeom prst="roundRect">
            <a:avLst>
              <a:gd name="adj" fmla="val 44444"/>
            </a:avLst>
          </a:prstGeom>
          <a:solidFill>
            <a:srgbClr val="E8FBF3"/>
          </a:solidFill>
          <a:ln w="12700">
            <a:solidFill>
              <a:srgbClr val="E8FBF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052560" y="2382012"/>
            <a:ext cx="163677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2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Production فعال</a:t>
            </a:r>
            <a:endParaRPr lang="en-US" sz="920" dirty="0"/>
          </a:p>
        </p:txBody>
      </p:sp>
      <p:sp>
        <p:nvSpPr>
          <p:cNvPr id="11" name="Shape 7"/>
          <p:cNvSpPr/>
          <p:nvPr/>
        </p:nvSpPr>
        <p:spPr>
          <a:xfrm>
            <a:off x="6949440" y="2340864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EAF7FD"/>
          </a:solidFill>
          <a:ln w="12700">
            <a:solidFill>
              <a:srgbClr val="EAF7F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022592" y="2382012"/>
            <a:ext cx="12710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2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دو زبانه</a:t>
            </a:r>
            <a:endParaRPr lang="en-US" sz="920" dirty="0"/>
          </a:p>
        </p:txBody>
      </p:sp>
      <p:sp>
        <p:nvSpPr>
          <p:cNvPr id="13" name="Shape 9"/>
          <p:cNvSpPr/>
          <p:nvPr/>
        </p:nvSpPr>
        <p:spPr>
          <a:xfrm>
            <a:off x="4553712" y="2340864"/>
            <a:ext cx="1965960" cy="329184"/>
          </a:xfrm>
          <a:prstGeom prst="roundRect">
            <a:avLst>
              <a:gd name="adj" fmla="val 44444"/>
            </a:avLst>
          </a:prstGeom>
          <a:solidFill>
            <a:srgbClr val="FFF8DC"/>
          </a:solidFill>
          <a:ln w="12700">
            <a:solidFill>
              <a:srgbClr val="FFF8D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26864" y="2382012"/>
            <a:ext cx="181965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20" b="1" dirty="0">
                <a:solidFill>
                  <a:srgbClr val="F59E0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بانک دانش ۱۰۱۹ بخشی</a:t>
            </a:r>
            <a:endParaRPr lang="en-US" sz="920" dirty="0"/>
          </a:p>
        </p:txBody>
      </p:sp>
      <p:sp>
        <p:nvSpPr>
          <p:cNvPr id="15" name="Shape 11"/>
          <p:cNvSpPr/>
          <p:nvPr/>
        </p:nvSpPr>
        <p:spPr>
          <a:xfrm>
            <a:off x="4572000" y="3090672"/>
            <a:ext cx="658368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9E4E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28032" y="3355848"/>
            <a:ext cx="6080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یک سامانه عملیاتی برای پاسخ تخصصی، تحلیل اسناد آزمایشگاهی، معرفی محصول و تبدیل پرسش مشتری به مسیر پیگیری فروش.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82312" y="4892040"/>
            <a:ext cx="3657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8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 xml:space="preserve"> | تیر ۱۴۰۵</a:t>
            </a:r>
            <a:endParaRPr lang="en-US" sz="980" dirty="0"/>
          </a:p>
        </p:txBody>
      </p:sp>
      <p:pic>
        <p:nvPicPr>
          <p:cNvPr id="18" name="Image 2" descr="/mnt/data/artin_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4736592"/>
            <a:ext cx="1005840" cy="10058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18120" y="5230368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assistant.artinazma.net</a:t>
            </a:r>
            <a:endParaRPr lang="en-US" sz="840" dirty="0"/>
          </a:p>
        </p:txBody>
      </p:sp>
      <p:sp>
        <p:nvSpPr>
          <p:cNvPr id="20" name="Text 15"/>
          <p:cNvSpPr/>
          <p:nvPr/>
        </p:nvSpPr>
        <p:spPr>
          <a:xfrm>
            <a:off x="8065008" y="5532120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2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آماده نمایش زنده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چرا این پروژه ساخته شد؟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هدف، تبدیل دانش پراکنده شرکت به یک سرویس پاسخ‌گویی سریع، یکنواخت و قابل اندازه‌گیری است.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973568" y="1627632"/>
            <a:ext cx="2971800" cy="1353312"/>
          </a:xfrm>
          <a:prstGeom prst="roundRect">
            <a:avLst>
              <a:gd name="adj" fmla="val 9459"/>
            </a:avLst>
          </a:prstGeom>
          <a:solidFill>
            <a:srgbClr val="FFF0F0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04220" y="1783080"/>
            <a:ext cx="41148" cy="1042416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9872" y="1792224"/>
            <a:ext cx="26243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دانش پراکنده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8138160" y="2157984"/>
            <a:ext cx="2615184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اطلاعات تجهیزات، استانداردها، کاتالیست‌ها و تجربه فروش در فایل‌ها، سایت و مکاتبات جدا قرار داشت.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4608576" y="1627632"/>
            <a:ext cx="2971800" cy="1353312"/>
          </a:xfrm>
          <a:prstGeom prst="roundRect">
            <a:avLst>
              <a:gd name="adj" fmla="val 9459"/>
            </a:avLst>
          </a:prstGeom>
          <a:solidFill>
            <a:srgbClr val="FFF3E2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39228" y="1783080"/>
            <a:ext cx="41148" cy="10424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792224"/>
            <a:ext cx="26243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وابستگی به افراد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4773168" y="2157984"/>
            <a:ext cx="2615184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کیفیت پاسخ به حضور چند کارشناس و حافظه عملیاتی آن‌ها وابسته می‌شد.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243584" y="1627632"/>
            <a:ext cx="2971800" cy="1353312"/>
          </a:xfrm>
          <a:prstGeom prst="roundRect">
            <a:avLst>
              <a:gd name="adj" fmla="val 9459"/>
            </a:avLst>
          </a:prstGeom>
          <a:solidFill>
            <a:srgbClr val="EAF7FD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74236" y="1783080"/>
            <a:ext cx="41148" cy="1042416"/>
          </a:xfrm>
          <a:prstGeom prst="rect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9888" y="1792224"/>
            <a:ext cx="26243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از دست رفتن سرنخ فروش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1408176" y="2157984"/>
            <a:ext cx="2615184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پرسش مشتری همیشه به درخواست قابل پیگیری، مسئول مشخص و گزارش مدیریتی تبدیل نمی‌شد.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1143000" y="3703320"/>
            <a:ext cx="10058400" cy="1389888"/>
          </a:xfrm>
          <a:prstGeom prst="roundRect">
            <a:avLst>
              <a:gd name="adj" fmla="val 13158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12680" y="3931920"/>
            <a:ext cx="777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FFC62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قبل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فایل‌ها + حافظه افراد + پاسخ‌های موردی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931920"/>
            <a:ext cx="777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FFC62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بعد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508760" y="4315968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 استاندارد + داده قابل پیگیری + یادگیری سازمانی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48840" y="5440680"/>
            <a:ext cx="7909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05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فرصت مدیریتی: هر سؤال مشتری می‌تواند هم‌زمان یک پاسخ، یک داده و یک سرنخ فروش ایجاد کند.</a:t>
            </a:r>
            <a:endParaRPr lang="en-US" sz="1050" dirty="0"/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9A0DA8E2-626A-0D83-B42C-0DA4163EA857}"/>
              </a:ext>
            </a:extLst>
          </p:cNvPr>
          <p:cNvSpPr/>
          <p:nvPr/>
        </p:nvSpPr>
        <p:spPr>
          <a:xfrm>
            <a:off x="5876925" y="4201668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 دقیقاً چیست؟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یک چت‌بات ساده نیست؛ یک سامانه تخصصی برای پاسخ، تحلیل، مدیریت دانش و پیگیری تقاضای مشتری است.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03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22960" y="1572768"/>
            <a:ext cx="557784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72768"/>
            <a:ext cx="5577840" cy="402336"/>
          </a:xfrm>
          <a:prstGeom prst="rect">
            <a:avLst/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1700784"/>
            <a:ext cx="100584" cy="100584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1700784"/>
            <a:ext cx="100584" cy="100584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1700784"/>
            <a:ext cx="100584" cy="100584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1682496"/>
            <a:ext cx="42519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assistant.artinazma.net</a:t>
            </a:r>
            <a:endParaRPr lang="en-US" sz="750" dirty="0"/>
          </a:p>
        </p:txBody>
      </p:sp>
      <p:pic>
        <p:nvPicPr>
          <p:cNvPr id="15" name="Image 0" descr="/mnt/data/avatar.png"/>
          <p:cNvPicPr>
            <a:picLocks noChangeAspect="1"/>
          </p:cNvPicPr>
          <p:nvPr/>
        </p:nvPicPr>
        <p:blipFill>
          <a:blip r:embed="rId3"/>
          <a:srcRect t="16667" b="16667"/>
          <a:stretch/>
        </p:blipFill>
        <p:spPr>
          <a:xfrm>
            <a:off x="5705856" y="2029968"/>
            <a:ext cx="438912" cy="43891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828800" y="2029968"/>
            <a:ext cx="3657600" cy="658368"/>
          </a:xfrm>
          <a:prstGeom prst="roundRect">
            <a:avLst>
              <a:gd name="adj" fmla="val 20833"/>
            </a:avLst>
          </a:prstGeom>
          <a:solidFill>
            <a:srgbClr val="EAF7FD"/>
          </a:solidFill>
          <a:ln w="12700">
            <a:solidFill>
              <a:srgbClr val="EAF7F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57400" y="2167128"/>
            <a:ext cx="318211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2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برای اندازه‌گیری گوگرد در سوخت، چه روش و دستگاهی مناسب است؟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1234440" y="2788920"/>
            <a:ext cx="448056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81328" y="3017520"/>
            <a:ext cx="3977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30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 ابتدا نوع نمونه، محدوده اندازه‌گیری و استاندارد هدف را مشخص می‌کند؛ سپس روش‌های مناسب و دستگاه‌های مرتبط را با منبع پیشنهاد می‌دهد.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1234440" y="4160520"/>
            <a:ext cx="4480560" cy="969264"/>
          </a:xfrm>
          <a:prstGeom prst="roundRect">
            <a:avLst>
              <a:gd name="adj" fmla="val 13208"/>
            </a:avLst>
          </a:prstGeom>
          <a:solidFill>
            <a:srgbClr val="FFF8DC"/>
          </a:solidFill>
          <a:ln w="10160">
            <a:solidFill>
              <a:srgbClr val="F7E8AD"/>
            </a:solidFill>
            <a:prstDash val="solid"/>
          </a:ln>
        </p:spPr>
      </p:sp>
      <p:pic>
        <p:nvPicPr>
          <p:cNvPr id="21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17320" y="4325112"/>
            <a:ext cx="640080" cy="58521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267712" y="4315968"/>
            <a:ext cx="2926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کارت محصول و منبع مرتبط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2267712" y="4663440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لینک صفحه محصول، استاندارد و مسیر درخواست قیمت</a:t>
            </a:r>
            <a:endParaRPr lang="en-US" sz="790" dirty="0"/>
          </a:p>
        </p:txBody>
      </p:sp>
      <p:sp>
        <p:nvSpPr>
          <p:cNvPr id="24" name="Text 20"/>
          <p:cNvSpPr/>
          <p:nvPr/>
        </p:nvSpPr>
        <p:spPr>
          <a:xfrm>
            <a:off x="7909560" y="1664208"/>
            <a:ext cx="3200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برای چه کسانی؟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7315200" y="2148840"/>
            <a:ext cx="37490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1023092" y="2304288"/>
            <a:ext cx="41148" cy="530352"/>
          </a:xfrm>
          <a:prstGeom prst="rect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461504" y="2313432"/>
            <a:ext cx="34015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مشتری صنعتی</a:t>
            </a:r>
            <a:endParaRPr lang="en-US" sz="1160" dirty="0"/>
          </a:p>
        </p:txBody>
      </p:sp>
      <p:sp>
        <p:nvSpPr>
          <p:cNvPr id="28" name="Text 24"/>
          <p:cNvSpPr/>
          <p:nvPr/>
        </p:nvSpPr>
        <p:spPr>
          <a:xfrm>
            <a:off x="7479792" y="2679192"/>
            <a:ext cx="33924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 تخصصی، تحلیل فایل و پیگیری درخواست در یک حساب کاربری.</a:t>
            </a:r>
            <a:endParaRPr lang="en-US" sz="810" dirty="0"/>
          </a:p>
        </p:txBody>
      </p:sp>
      <p:sp>
        <p:nvSpPr>
          <p:cNvPr id="29" name="Shape 25"/>
          <p:cNvSpPr/>
          <p:nvPr/>
        </p:nvSpPr>
        <p:spPr>
          <a:xfrm>
            <a:off x="7315200" y="3182112"/>
            <a:ext cx="37490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1023092" y="3337560"/>
            <a:ext cx="41148" cy="530352"/>
          </a:xfrm>
          <a:prstGeom prst="rect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461504" y="3346704"/>
            <a:ext cx="34015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کارشناس فروش و فنی</a:t>
            </a:r>
            <a:endParaRPr lang="en-US" sz="1160" dirty="0"/>
          </a:p>
        </p:txBody>
      </p:sp>
      <p:sp>
        <p:nvSpPr>
          <p:cNvPr id="32" name="Text 28"/>
          <p:cNvSpPr/>
          <p:nvPr/>
        </p:nvSpPr>
        <p:spPr>
          <a:xfrm>
            <a:off x="7479792" y="3712464"/>
            <a:ext cx="33924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 استانداردتر، معرفی محصول و ثبت اطلاعات موردنیاز برای استعلام.</a:t>
            </a:r>
            <a:endParaRPr lang="en-US" sz="810" dirty="0"/>
          </a:p>
        </p:txBody>
      </p:sp>
      <p:sp>
        <p:nvSpPr>
          <p:cNvPr id="33" name="Shape 29"/>
          <p:cNvSpPr/>
          <p:nvPr/>
        </p:nvSpPr>
        <p:spPr>
          <a:xfrm>
            <a:off x="7315200" y="4215384"/>
            <a:ext cx="37490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023092" y="4370832"/>
            <a:ext cx="4114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461504" y="4379976"/>
            <a:ext cx="34015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مدیر و ادمین</a:t>
            </a:r>
            <a:endParaRPr lang="en-US" sz="1160" dirty="0"/>
          </a:p>
        </p:txBody>
      </p:sp>
      <p:sp>
        <p:nvSpPr>
          <p:cNvPr id="36" name="Text 32"/>
          <p:cNvSpPr/>
          <p:nvPr/>
        </p:nvSpPr>
        <p:spPr>
          <a:xfrm>
            <a:off x="7479792" y="4745736"/>
            <a:ext cx="33924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مشاهده تقاضا، کیفیت پاسخ، مشتریان، درخواست‌ها و سلامت سیستم.</a:t>
            </a:r>
            <a:endParaRPr lang="en-US" sz="810" dirty="0"/>
          </a:p>
        </p:txBody>
      </p:sp>
      <p:sp>
        <p:nvSpPr>
          <p:cNvPr id="37" name="Shape 33"/>
          <p:cNvSpPr/>
          <p:nvPr/>
        </p:nvSpPr>
        <p:spPr>
          <a:xfrm>
            <a:off x="7360920" y="5321808"/>
            <a:ext cx="3657600" cy="438912"/>
          </a:xfrm>
          <a:prstGeom prst="roundRect">
            <a:avLst>
              <a:gd name="adj" fmla="val 25000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543800" y="5440680"/>
            <a:ext cx="3291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2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جایگزین کارشناس نیست؛ سرعت‌دهنده و استانداردکننده کار کارشناسی است.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تجربه کاربر؛ از سؤال تا پیگیری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کل مسیر تعامل مشتری، پاسخ هوشمند و ادامه فرآیند فروش در یک جریان واحد قرار گرفته است.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58368" y="1965960"/>
            <a:ext cx="2157984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2130552"/>
            <a:ext cx="384048" cy="384048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1854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04672" y="2532888"/>
            <a:ext cx="18653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ثبت‌نام و ورود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1828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3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حساب مشتری با تأیید ادمین و احراز هویت امن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2843784" y="2679192"/>
            <a:ext cx="109728" cy="402336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80944" y="1965960"/>
            <a:ext cx="2157984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2130552"/>
            <a:ext cx="384048" cy="384048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21854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27248" y="2532888"/>
            <a:ext cx="18653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پرسش یا آپلود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3145536" y="2944368"/>
            <a:ext cx="1828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3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متن، PDF، Excel، CSV یا تصویر آزمایشگاهی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166360" y="2679192"/>
            <a:ext cx="109728" cy="402336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1965960"/>
            <a:ext cx="2157984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1152" y="2130552"/>
            <a:ext cx="384048" cy="38404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21854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49824" y="2532888"/>
            <a:ext cx="18653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 تخصصی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5468112" y="2944368"/>
            <a:ext cx="1828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3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پاسخ، منبع، کارت محصول و سؤال‌های تکمیلی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7488936" y="2679192"/>
            <a:ext cx="109728" cy="402336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6096" y="1965960"/>
            <a:ext cx="2157984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53728" y="21305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3728" y="21854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72400" y="2532888"/>
            <a:ext cx="18653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ثبت درخواست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7790688" y="2944368"/>
            <a:ext cx="1828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3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تماس، مشاوره یا استعلام قیمت با اطلاعات ساختاریافته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9811512" y="2679192"/>
            <a:ext cx="109728" cy="402336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48672" y="1965960"/>
            <a:ext cx="2157984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576304" y="2130552"/>
            <a:ext cx="384048" cy="384048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576304" y="21854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094976" y="2532888"/>
            <a:ext cx="18653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پیگیری و تاریخچه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10113264" y="2944368"/>
            <a:ext cx="1828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3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نشست‌های چت، وضعیت درخواست، پیام‌ها و اعلان‌ها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1371600" y="4663440"/>
            <a:ext cx="9418320" cy="896112"/>
          </a:xfrm>
          <a:prstGeom prst="roundRect">
            <a:avLst>
              <a:gd name="adj" fmla="val 16327"/>
            </a:avLst>
          </a:prstGeom>
          <a:solidFill>
            <a:srgbClr val="E8FBF3"/>
          </a:solidFill>
          <a:ln w="10160">
            <a:solidFill>
              <a:srgbClr val="C4F1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4892040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2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خروجی عملیاتی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1828800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8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مشتری پاسخ و مسیر پیگیری دارد؛ تیم فروش اطلاعات کامل‌تری دریافت می‌کند؛ مدیر نیز داده قابل سنجش می‌بیند.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قابلیت‌های اصلی محصول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قابلیت‌ها براساس مسیرهای واقعی کد و نسخه Production فعلی دسته‌بندی شده‌اند.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882128" y="1627632"/>
            <a:ext cx="2980944" cy="1389888"/>
          </a:xfrm>
          <a:prstGeom prst="roundRect">
            <a:avLst>
              <a:gd name="adj" fmla="val 9211"/>
            </a:avLst>
          </a:prstGeom>
          <a:solidFill>
            <a:srgbClr val="EAF7FD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21924" y="1783080"/>
            <a:ext cx="41148" cy="1078992"/>
          </a:xfrm>
          <a:prstGeom prst="rect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8432" y="1792224"/>
            <a:ext cx="2633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چت تخصصی دو زبانه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8046720" y="2157984"/>
            <a:ext cx="262432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5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پرسش‌های فنی، استانداردها، انتخاب دستگاه، عیب‌یابی و فروش فنی.</a:t>
            </a:r>
            <a:endParaRPr lang="en-US" sz="815" dirty="0"/>
          </a:p>
        </p:txBody>
      </p:sp>
      <p:sp>
        <p:nvSpPr>
          <p:cNvPr id="13" name="Shape 11"/>
          <p:cNvSpPr/>
          <p:nvPr/>
        </p:nvSpPr>
        <p:spPr>
          <a:xfrm>
            <a:off x="4562856" y="1627632"/>
            <a:ext cx="2980944" cy="1389888"/>
          </a:xfrm>
          <a:prstGeom prst="roundRect">
            <a:avLst>
              <a:gd name="adj" fmla="val 9211"/>
            </a:avLst>
          </a:prstGeom>
          <a:solidFill>
            <a:srgbClr val="EAFBFD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02652" y="1783080"/>
            <a:ext cx="41148" cy="1078992"/>
          </a:xfrm>
          <a:prstGeom prst="rect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792224"/>
            <a:ext cx="2633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تحلیل فایل آزمایشگاهی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4727448" y="2157984"/>
            <a:ext cx="262432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5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Excel، CSV و PDF با تفسیر تخصصی و پیشنهاد اقدام بعدی.</a:t>
            </a:r>
            <a:endParaRPr lang="en-US" sz="815" dirty="0"/>
          </a:p>
        </p:txBody>
      </p:sp>
      <p:sp>
        <p:nvSpPr>
          <p:cNvPr id="17" name="Shape 15"/>
          <p:cNvSpPr/>
          <p:nvPr/>
        </p:nvSpPr>
        <p:spPr>
          <a:xfrm>
            <a:off x="1243584" y="1627632"/>
            <a:ext cx="2980944" cy="1389888"/>
          </a:xfrm>
          <a:prstGeom prst="roundRect">
            <a:avLst>
              <a:gd name="adj" fmla="val 9211"/>
            </a:avLst>
          </a:prstGeom>
          <a:solidFill>
            <a:srgbClr val="E8FB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83380" y="1783080"/>
            <a:ext cx="41148" cy="1078992"/>
          </a:xfrm>
          <a:prstGeom prst="rect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9888" y="1792224"/>
            <a:ext cx="2633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تحلیل تصویر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1408176" y="2157984"/>
            <a:ext cx="262432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5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کروماتوگرام، خطای دستگاه، نمودار و صفحه نرم‌افزار در فرمت‌های رایج.</a:t>
            </a:r>
            <a:endParaRPr lang="en-US" sz="815" dirty="0"/>
          </a:p>
        </p:txBody>
      </p:sp>
      <p:sp>
        <p:nvSpPr>
          <p:cNvPr id="21" name="Shape 19"/>
          <p:cNvSpPr/>
          <p:nvPr/>
        </p:nvSpPr>
        <p:spPr>
          <a:xfrm>
            <a:off x="7882128" y="3364992"/>
            <a:ext cx="2980944" cy="1389888"/>
          </a:xfrm>
          <a:prstGeom prst="roundRect">
            <a:avLst>
              <a:gd name="adj" fmla="val 9211"/>
            </a:avLst>
          </a:prstGeom>
          <a:solidFill>
            <a:srgbClr val="FFF3E2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21924" y="3520440"/>
            <a:ext cx="4114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28432" y="3529584"/>
            <a:ext cx="2633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منابع و کارت محصول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8046720" y="3895344"/>
            <a:ext cx="262432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5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لینک صفحه رسمی، تصویر محصول و پیشنهاد دستگاه مرتبط در کنار پاسخ.</a:t>
            </a:r>
            <a:endParaRPr lang="en-US" sz="815" dirty="0"/>
          </a:p>
        </p:txBody>
      </p:sp>
      <p:sp>
        <p:nvSpPr>
          <p:cNvPr id="25" name="Shape 23"/>
          <p:cNvSpPr/>
          <p:nvPr/>
        </p:nvSpPr>
        <p:spPr>
          <a:xfrm>
            <a:off x="4562856" y="3364992"/>
            <a:ext cx="2980944" cy="1389888"/>
          </a:xfrm>
          <a:prstGeom prst="roundRect">
            <a:avLst>
              <a:gd name="adj" fmla="val 9211"/>
            </a:avLst>
          </a:prstGeom>
          <a:solidFill>
            <a:srgbClr val="FFF8D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02652" y="3520440"/>
            <a:ext cx="41148" cy="1078992"/>
          </a:xfrm>
          <a:prstGeom prst="rect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529584"/>
            <a:ext cx="2633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داشبورد مشتری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4727448" y="3895344"/>
            <a:ext cx="262432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5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نشست‌های متعدد، جست‌وجوی تاریخچه، پیام‌ها، درخواست‌ها و اعلان‌ها.</a:t>
            </a:r>
            <a:endParaRPr lang="en-US" sz="815" dirty="0"/>
          </a:p>
        </p:txBody>
      </p:sp>
      <p:sp>
        <p:nvSpPr>
          <p:cNvPr id="29" name="Shape 27"/>
          <p:cNvSpPr/>
          <p:nvPr/>
        </p:nvSpPr>
        <p:spPr>
          <a:xfrm>
            <a:off x="1243584" y="3364992"/>
            <a:ext cx="2980944" cy="1389888"/>
          </a:xfrm>
          <a:prstGeom prst="roundRect">
            <a:avLst>
              <a:gd name="adj" fmla="val 9211"/>
            </a:avLst>
          </a:prstGeom>
          <a:solidFill>
            <a:srgbClr val="FFF0F0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83380" y="3520440"/>
            <a:ext cx="41148" cy="1078992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89888" y="3529584"/>
            <a:ext cx="2633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پیگیری فروش و CRM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1408176" y="3895344"/>
            <a:ext cx="262432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5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وضعیت، اولویت، مسئول، یادداشت داخلی، موعد پیگیری و گزارش مدیریتی.</a:t>
            </a:r>
            <a:endParaRPr lang="en-US" sz="815" dirty="0"/>
          </a:p>
        </p:txBody>
      </p:sp>
      <p:sp>
        <p:nvSpPr>
          <p:cNvPr id="33" name="Shape 31"/>
          <p:cNvSpPr/>
          <p:nvPr/>
        </p:nvSpPr>
        <p:spPr>
          <a:xfrm>
            <a:off x="2057400" y="5230368"/>
            <a:ext cx="8092440" cy="411480"/>
          </a:xfrm>
          <a:prstGeom prst="roundRect">
            <a:avLst>
              <a:gd name="adj" fmla="val 22222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5340096"/>
            <a:ext cx="7543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2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قابلیت‌های مکمل: رونویسی صوت فارسی، PWA، مسیر Android، ایمیل و Push Notification قابل تنظیم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سه سناریوی واقعی استفاده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ارزش محصول زمانی دیده می‌شود که پرسش فنی، تحلیل داده و فرآیند فروش را به هم متصل کند.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936992" y="1627632"/>
            <a:ext cx="3017520" cy="3611880"/>
          </a:xfrm>
          <a:prstGeom prst="roundRect">
            <a:avLst>
              <a:gd name="adj" fmla="val 4242"/>
            </a:avLst>
          </a:prstGeom>
          <a:solidFill>
            <a:srgbClr val="EAF7FD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13364" y="1783080"/>
            <a:ext cx="41148" cy="3300984"/>
          </a:xfrm>
          <a:prstGeom prst="rect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83296" y="1755648"/>
            <a:ext cx="2651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تجهیزات و استانداردها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8083296" y="1938528"/>
            <a:ext cx="26700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۱) انتخاب روش و دستگاه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01584" y="2286000"/>
            <a:ext cx="2660904" cy="2825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ورودی: نوع نمونه، پارامتر اندازه‌گیری، محدوده و استاندارد</a:t>
            </a:r>
            <a:endParaRPr lang="en-US" sz="870" dirty="0"/>
          </a:p>
          <a:p>
            <a:pPr marL="0" indent="0" algn="r" rtl="1">
              <a:buNone/>
            </a:pP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خروجی: روش مناسب، گزینه‌های دستگاه، محدودیت‌ها و سؤال‌های تکمیلی</a:t>
            </a:r>
            <a:endParaRPr lang="en-US" sz="870" dirty="0"/>
          </a:p>
          <a:p>
            <a:pPr marL="0" indent="0" algn="r" rtl="1">
              <a:buNone/>
            </a:pP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ارزش: کاهش زمان جست‌وجو و افزایش کیفیت پاسخ اولیه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590288" y="1627632"/>
            <a:ext cx="3017520" cy="3611880"/>
          </a:xfrm>
          <a:prstGeom prst="roundRect">
            <a:avLst>
              <a:gd name="adj" fmla="val 4242"/>
            </a:avLst>
          </a:prstGeom>
          <a:solidFill>
            <a:srgbClr val="E8FB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66660" y="1783080"/>
            <a:ext cx="41148" cy="3300984"/>
          </a:xfrm>
          <a:prstGeom prst="rect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755648"/>
            <a:ext cx="2651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داده و گزارش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4736592" y="1938528"/>
            <a:ext cx="26700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۲) تحلیل داده آزمایشگاهی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2660904" cy="2825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ورودی: Excel، CSV، PDF یا تصویر کروماتوگرام</a:t>
            </a:r>
            <a:endParaRPr lang="en-US" sz="870" dirty="0"/>
          </a:p>
          <a:p>
            <a:pPr marL="0" indent="0" algn="r" rtl="1">
              <a:buNone/>
            </a:pP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خروجی: خلاصه مدیریتی، نقاط غیرعادی، علت‌های احتمالی و اقدام بعدی</a:t>
            </a:r>
            <a:endParaRPr lang="en-US" sz="870" dirty="0"/>
          </a:p>
          <a:p>
            <a:pPr marL="0" indent="0" algn="r" rtl="1">
              <a:buNone/>
            </a:pP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ارزش: تبدیل فایل خام به تفسیر قابل استفاده برای تصمیم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1243584" y="1627632"/>
            <a:ext cx="3017520" cy="3611880"/>
          </a:xfrm>
          <a:prstGeom prst="roundRect">
            <a:avLst>
              <a:gd name="adj" fmla="val 4242"/>
            </a:avLst>
          </a:prstGeom>
          <a:solidFill>
            <a:srgbClr val="FFF3E2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19956" y="1783080"/>
            <a:ext cx="41148" cy="33009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9888" y="1755648"/>
            <a:ext cx="2651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59E0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فروش و CRM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389888" y="1938528"/>
            <a:ext cx="26700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۳) استعلام و پیگیری فروش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08176" y="2286000"/>
            <a:ext cx="2660904" cy="2825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ورودی: درخواست قیمت، تماس یا مشاوره</a:t>
            </a:r>
            <a:endParaRPr lang="en-US" sz="870" dirty="0"/>
          </a:p>
          <a:p>
            <a:pPr marL="0" indent="0" algn="r" rtl="1">
              <a:buNone/>
            </a:pP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خروجی: پرونده درخواست، وضعیت، مسئول، اولویت، موعد پیگیری و اعلان</a:t>
            </a:r>
            <a:endParaRPr lang="en-US" sz="870" dirty="0"/>
          </a:p>
          <a:p>
            <a:pPr marL="0" indent="0" algn="r" rtl="1">
              <a:buNone/>
            </a:pP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ارزش: جلوگیری از فراموش‌شدن سرنخ و ایجاد گزارش مدیریتی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2286000" y="5577840"/>
            <a:ext cx="7589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0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هر سه سناریو در یک سامانه و با یک بانک دانش مشترک اجرا می‌شوند.</a:t>
            </a:r>
            <a:endParaRPr lang="en-US" sz="10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 قابل اتکا چگونه ساخته می‌شود؟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سامانه برای کاهش پاسخ‌های بی‌ربط یا ساختگی، از چند لایه بازیابی و کنترل استفاده می‌کند.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07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737360"/>
            <a:ext cx="2139696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86584" y="1901952"/>
            <a:ext cx="384048" cy="384048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86584" y="19568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77824" y="1993392"/>
            <a:ext cx="142646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7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تشخیص نیت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896112" y="2487168"/>
            <a:ext cx="18470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8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فنی، تجاری، عیب‌یابی، تحلیل یا محصول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912364" y="2240280"/>
            <a:ext cx="109728" cy="384048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44952" y="1737360"/>
            <a:ext cx="2139696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1901952"/>
            <a:ext cx="384048" cy="384048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19568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72968" y="1993392"/>
            <a:ext cx="142646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7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جست‌وجوی سریع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3191256" y="2487168"/>
            <a:ext cx="18470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8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کلیدواژه و امتیازدهی در دانش داخلی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5207508" y="2240280"/>
            <a:ext cx="109728" cy="384048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0096" y="1737360"/>
            <a:ext cx="2139696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76872" y="1901952"/>
            <a:ext cx="384048" cy="38404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6872" y="19568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68112" y="1993392"/>
            <a:ext cx="142646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7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جست‌وجوی برداری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5486400" y="2487168"/>
            <a:ext cx="18470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8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Qdrant و embedding برای شباهت معنایی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7502652" y="2240280"/>
            <a:ext cx="109728" cy="384048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35240" y="1737360"/>
            <a:ext cx="2139696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72016" y="19019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72016" y="19568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63256" y="1993392"/>
            <a:ext cx="142646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7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منبع رسمی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7781544" y="2487168"/>
            <a:ext cx="18470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8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صفحات artinazma.net و در صورت نیاز وب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9797796" y="2240280"/>
            <a:ext cx="109728" cy="384048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30384" y="1737360"/>
            <a:ext cx="2139696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567160" y="1901952"/>
            <a:ext cx="384048" cy="384048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567160" y="19568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058400" y="1993392"/>
            <a:ext cx="142646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7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 و ذخیره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10076688" y="2487168"/>
            <a:ext cx="18470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8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پاسخ، منبع، بازخورد و داده مدیریتی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960120" y="3730752"/>
            <a:ext cx="1024128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55480" y="3950208"/>
            <a:ext cx="1234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قواعد اعتماد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396728" y="4361688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96728" y="4366260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6583680" y="4343400"/>
            <a:ext cx="37216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حذف کانتکست داخلی ضعیف و نامرتبط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5641848" y="4361688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41848" y="4366260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1828800" y="4343400"/>
            <a:ext cx="37216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عدم حدس قیمت، موجودی و زمان تحویل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10396728" y="4736592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96728" y="4741164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6583680" y="4718304"/>
            <a:ext cx="37216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کنترل مدل/استاندارد و استفاده از منبع معتبر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5641848" y="4736592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41848" y="4741164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1828800" y="4718304"/>
            <a:ext cx="37216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کش Redis برای پرسش‌های تکراری و پاسخ سریع‌تر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1600200" y="5513832"/>
            <a:ext cx="9052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7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نتیجه: پاسخ‌ها به دانش شرکت نزدیک می‌مانند، اما برای سؤال‌های خاص امکان استفاده کنترل‌شده از منابع تازه حفظ می‌شود.</a:t>
            </a:r>
            <a:endParaRPr lang="en-US" sz="9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مرکز کنترل مدیر و ادمین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پنل مدیریت، دانش، مشتری، درخواست‌ها، گزارش‌ها و سلامت سامانه را در یک نقطه جمع می‌کند.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572768"/>
            <a:ext cx="5989320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1430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572768"/>
            <a:ext cx="5989320" cy="402336"/>
          </a:xfrm>
          <a:prstGeom prst="rect">
            <a:avLst/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" y="1700784"/>
            <a:ext cx="100584" cy="100584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" y="1700784"/>
            <a:ext cx="100584" cy="100584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1700784"/>
            <a:ext cx="100584" cy="100584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4168" y="1682496"/>
            <a:ext cx="46634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پنل تنظیمات و اعلان‌های تلگرام</a:t>
            </a:r>
            <a:endParaRPr lang="en-US" sz="750" dirty="0"/>
          </a:p>
        </p:txBody>
      </p:sp>
      <p:pic>
        <p:nvPicPr>
          <p:cNvPr id="15" name="Image 0" descr="/mnt/data/8b930696-867b-49dc-983e-7a602c6758f1.png"/>
          <p:cNvPicPr>
            <a:picLocks noChangeAspect="1"/>
          </p:cNvPicPr>
          <p:nvPr/>
        </p:nvPicPr>
        <p:blipFill>
          <a:blip r:embed="rId3"/>
          <a:srcRect l="11952" r="11952"/>
          <a:stretch/>
        </p:blipFill>
        <p:spPr>
          <a:xfrm>
            <a:off x="822960" y="2048256"/>
            <a:ext cx="5715000" cy="281635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87552" y="5212080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E8FBF3"/>
          </a:solidFill>
          <a:ln w="12700">
            <a:solidFill>
              <a:srgbClr val="E8FB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5253228"/>
            <a:ext cx="12710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2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تلگرام فعال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2615184" y="5212080"/>
            <a:ext cx="1645920" cy="329184"/>
          </a:xfrm>
          <a:prstGeom prst="roundRect">
            <a:avLst>
              <a:gd name="adj" fmla="val 44444"/>
            </a:avLst>
          </a:prstGeom>
          <a:solidFill>
            <a:srgbClr val="EAF7FD"/>
          </a:solidFill>
          <a:ln w="12700">
            <a:solidFill>
              <a:srgbClr val="EAF7F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88336" y="5253228"/>
            <a:ext cx="14996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2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Sync پس‌زمینه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4480560" y="5212080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FFF8DC"/>
          </a:solidFill>
          <a:ln w="12700">
            <a:solidFill>
              <a:srgbClr val="FFF8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53712" y="5253228"/>
            <a:ext cx="12710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59E0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Deep Health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10817352" y="1709928"/>
            <a:ext cx="384048" cy="384048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817352" y="1764792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458200" y="1645920"/>
            <a:ext cx="2148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داشبورد مدیریتی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967728" y="1956816"/>
            <a:ext cx="361188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سؤال‌ها، مشتریان، نشست‌ها، پیام‌ها و درخواست‌های باز</a:t>
            </a:r>
            <a:endParaRPr lang="en-US" sz="790" dirty="0"/>
          </a:p>
        </p:txBody>
      </p:sp>
      <p:sp>
        <p:nvSpPr>
          <p:cNvPr id="26" name="Shape 23"/>
          <p:cNvSpPr/>
          <p:nvPr/>
        </p:nvSpPr>
        <p:spPr>
          <a:xfrm>
            <a:off x="10817352" y="2478024"/>
            <a:ext cx="384048" cy="38404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817352" y="2532888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458200" y="2414016"/>
            <a:ext cx="2148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کیفیت پاسخ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967728" y="2724912"/>
            <a:ext cx="361188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بازخورد مثبت/منفی، موضوعات پرتکرار و شکاف‌های دانش</a:t>
            </a:r>
            <a:endParaRPr lang="en-US" sz="790" dirty="0"/>
          </a:p>
        </p:txBody>
      </p:sp>
      <p:sp>
        <p:nvSpPr>
          <p:cNvPr id="30" name="Shape 27"/>
          <p:cNvSpPr/>
          <p:nvPr/>
        </p:nvSpPr>
        <p:spPr>
          <a:xfrm>
            <a:off x="10817352" y="32461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817352" y="3300984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458200" y="3182112"/>
            <a:ext cx="2148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مدیریت بانک دانش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967728" y="3493008"/>
            <a:ext cx="361188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آپلود، ویرایش chunk، بازسازی، Qdrant و Google Drive Sync زمان‌بندی‌شده</a:t>
            </a:r>
            <a:endParaRPr lang="en-US" sz="790" dirty="0"/>
          </a:p>
        </p:txBody>
      </p:sp>
      <p:sp>
        <p:nvSpPr>
          <p:cNvPr id="34" name="Shape 31"/>
          <p:cNvSpPr/>
          <p:nvPr/>
        </p:nvSpPr>
        <p:spPr>
          <a:xfrm>
            <a:off x="10817352" y="4014216"/>
            <a:ext cx="384048" cy="384048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817352" y="4069080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458200" y="3950208"/>
            <a:ext cx="2148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مدیریت مشتری و CRM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967728" y="4261104"/>
            <a:ext cx="361188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تأیید/مسدودسازی، وضعیت، اولویت، مسئول و موعد پیگیری</a:t>
            </a:r>
            <a:endParaRPr lang="en-US" sz="790" dirty="0"/>
          </a:p>
        </p:txBody>
      </p:sp>
      <p:sp>
        <p:nvSpPr>
          <p:cNvPr id="38" name="Shape 35"/>
          <p:cNvSpPr/>
          <p:nvPr/>
        </p:nvSpPr>
        <p:spPr>
          <a:xfrm>
            <a:off x="10817352" y="4782312"/>
            <a:ext cx="384048" cy="384048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817352" y="483717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458200" y="4718304"/>
            <a:ext cx="2148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گزارش و عملیات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967728" y="5029200"/>
            <a:ext cx="361188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گزارش هفتگی/ماهانه، CSV، لاگ خطا، health و اعلان تلگرام</a:t>
            </a:r>
            <a:endParaRPr lang="en-US" sz="790" dirty="0"/>
          </a:p>
        </p:txBody>
      </p:sp>
      <p:sp>
        <p:nvSpPr>
          <p:cNvPr id="42" name="Text 39"/>
          <p:cNvSpPr/>
          <p:nvPr/>
        </p:nvSpPr>
        <p:spPr>
          <a:xfrm>
            <a:off x="6903720" y="5504688"/>
            <a:ext cx="4160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7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Google Drive Sync در پس‌زمینه اجرا می‌شود و هم‌زمانی چند Sync کنترل شده است.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معماری Production و امنیت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نسخه فعلی روی VPS و با سرویس‌های جداگانه داده، اپلیکیشن، پروکسی و مانیتورینگ اجرا می‌شود.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09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41248" y="1609344"/>
            <a:ext cx="5486400" cy="4224528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187452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975104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کاربر و مرورگر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554480" y="1975104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وب، موبایل و PWA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1298448" y="2551176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10A8D0"/>
          </a:solidFill>
          <a:ln w="12700">
            <a:solidFill>
              <a:srgbClr val="10A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651760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Nginx + TLS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554480" y="2651760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دامنه، SSL و مسیر عمومی 80/443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1298448" y="3227832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084C7"/>
          </a:solidFill>
          <a:ln w="12700">
            <a:solidFill>
              <a:srgbClr val="00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328416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Frontend + Backend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554480" y="3328416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Next.js 16 + FastAPI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1298448" y="390448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EAD7A"/>
          </a:solidFill>
          <a:ln w="12700">
            <a:solidFill>
              <a:srgbClr val="0EAD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4005072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PostgreSQL + Redis + Qdrant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554480" y="4005072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داده عملیاتی، کش و بانک برداری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1298448" y="4581144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FFC629"/>
          </a:solidFill>
          <a:ln w="12700">
            <a:solidFill>
              <a:srgbClr val="FFC6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4681728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Prometheus + Grafana + Backup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554480" y="4681728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پایش، داشبورد و نسخه پشتیبان</a:t>
            </a:r>
            <a:endParaRPr lang="en-US" sz="710" dirty="0"/>
          </a:p>
        </p:txBody>
      </p:sp>
      <p:sp>
        <p:nvSpPr>
          <p:cNvPr id="25" name="Text 23"/>
          <p:cNvSpPr/>
          <p:nvPr/>
        </p:nvSpPr>
        <p:spPr>
          <a:xfrm>
            <a:off x="1325880" y="5440680"/>
            <a:ext cx="4526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4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۸ سرویس اصلی در حال اجرا؛ certbot و backup به‌صورت کنترل‌شده اجرا می‌شوند.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7589520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کنترل‌های امنیتی و پایداری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16768" y="2194560"/>
            <a:ext cx="201168" cy="201168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16768" y="2199132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6995160" y="2176272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JWT، Cookie امن و bcrypt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10716768" y="2715768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16768" y="2720340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6995160" y="2697480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CSRF، CORS و محدودیت نرخ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10716768" y="323697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16768" y="3241548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6995160" y="3218688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کلیدها خارج از Git و محیط جدا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10716768" y="3758184"/>
            <a:ext cx="201168" cy="201168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16768" y="3762756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6995160" y="3739896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SSL معتبر با تمدید خودکار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10716768" y="4279392"/>
            <a:ext cx="201168" cy="201168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16768" y="4283964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6995160" y="4261104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Health/Deep Health و لاگ ساختاریافته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10716768" y="4800600"/>
            <a:ext cx="201168" cy="201168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16768" y="4805172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6995160" y="4782312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نوشتن اتمیک و Lock برای Vector Store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949440" y="5413248"/>
            <a:ext cx="4114800" cy="411480"/>
          </a:xfrm>
          <a:prstGeom prst="roundRect">
            <a:avLst>
              <a:gd name="adj" fmla="val 24444"/>
            </a:avLst>
          </a:prstGeom>
          <a:solidFill>
            <a:srgbClr val="E8FBF3"/>
          </a:solidFill>
          <a:ln w="8890">
            <a:solidFill>
              <a:srgbClr val="C4F1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7184" y="5513832"/>
            <a:ext cx="3639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8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ورودی عمومی فقط از Nginx عبور می‌کند؛ پورت‌های Backend و Frontend مستقیم منتشر نیستند.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وضعیت فعلی؛ شواهد اجرای واقعی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وضعیت زیر بر اساس آخرین استقرار Production و تست‌های مستقیم روی دامنه و سرویس‌ها ثبت شده است.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555480" y="1572768"/>
            <a:ext cx="1874520" cy="1097280"/>
          </a:xfrm>
          <a:prstGeom prst="roundRect">
            <a:avLst>
              <a:gd name="adj" fmla="val 12500"/>
            </a:avLst>
          </a:prstGeom>
          <a:solidFill>
            <a:srgbClr val="EAF7FD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65208" y="1810512"/>
            <a:ext cx="165506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HTTP/2 200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9720072" y="2212848"/>
            <a:ext cx="15453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دامنه و صفحه اصلی فعال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7434072" y="1572768"/>
            <a:ext cx="1874520" cy="1097280"/>
          </a:xfrm>
          <a:prstGeom prst="roundRect">
            <a:avLst>
              <a:gd name="adj" fmla="val 12500"/>
            </a:avLst>
          </a:prstGeom>
          <a:solidFill>
            <a:srgbClr val="E8FBF3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1810512"/>
            <a:ext cx="165506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Healthy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7598664" y="2212848"/>
            <a:ext cx="15453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Backend، Frontend، Nginx و داده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5312664" y="1572768"/>
            <a:ext cx="1874520" cy="1097280"/>
          </a:xfrm>
          <a:prstGeom prst="roundRect">
            <a:avLst>
              <a:gd name="adj" fmla="val 12500"/>
            </a:avLst>
          </a:prstGeom>
          <a:solidFill>
            <a:srgbClr val="FFF3E2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1810512"/>
            <a:ext cx="165506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59E0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1019 / 1019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5477256" y="2212848"/>
            <a:ext cx="15453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Vector و Point در Qdrant بدون مغایرت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3191256" y="1572768"/>
            <a:ext cx="1874520" cy="1097280"/>
          </a:xfrm>
          <a:prstGeom prst="roundRect">
            <a:avLst>
              <a:gd name="adj" fmla="val 12500"/>
            </a:avLst>
          </a:prstGeom>
          <a:solidFill>
            <a:srgbClr val="EAFBFD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00984" y="1810512"/>
            <a:ext cx="165506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 / 10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3355848" y="2212848"/>
            <a:ext cx="15453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تست هم‌زمانی بدون خطا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069848" y="1572768"/>
            <a:ext cx="1874520" cy="1097280"/>
          </a:xfrm>
          <a:prstGeom prst="roundRect">
            <a:avLst>
              <a:gd name="adj" fmla="val 12500"/>
            </a:avLst>
          </a:prstGeom>
          <a:solidFill>
            <a:srgbClr val="FFF8DC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9576" y="1810512"/>
            <a:ext cx="165506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C62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~4.9 ms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1234440" y="2212848"/>
            <a:ext cx="15453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زمان پاسخ Health API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868680" y="3063240"/>
            <a:ext cx="493776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1430">
            <a:solidFill>
              <a:srgbClr val="D9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063240"/>
            <a:ext cx="4937760" cy="402336"/>
          </a:xfrm>
          <a:prstGeom prst="rect">
            <a:avLst/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4984" y="3191256"/>
            <a:ext cx="100584" cy="100584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16152" y="3191256"/>
            <a:ext cx="100584" cy="100584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3191256"/>
            <a:ext cx="100584" cy="100584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27048" y="3172968"/>
            <a:ext cx="36118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Assistant Alerts</a:t>
            </a:r>
            <a:endParaRPr lang="en-US" sz="750" dirty="0"/>
          </a:p>
        </p:txBody>
      </p:sp>
      <p:pic>
        <p:nvPicPr>
          <p:cNvPr id="30" name="Image 0" descr="/mnt/data/f7abda77-528e-40ea-be4b-f7693fb7a7be.png"/>
          <p:cNvPicPr>
            <a:picLocks noChangeAspect="1"/>
          </p:cNvPicPr>
          <p:nvPr/>
        </p:nvPicPr>
        <p:blipFill>
          <a:blip r:embed="rId3"/>
          <a:srcRect t="21870" b="21870"/>
          <a:stretch/>
        </p:blipFill>
        <p:spPr>
          <a:xfrm>
            <a:off x="1005840" y="3529584"/>
            <a:ext cx="4663440" cy="16916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34440" y="5321808"/>
            <a:ext cx="4206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8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اعلان گروهی تلگرام فعال و آزمایش‌شده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6263640" y="3063240"/>
            <a:ext cx="475488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15400" y="3310128"/>
            <a:ext cx="1691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Health Check فعلی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0305288" y="3794760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305288" y="3799332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6720840" y="3776472"/>
            <a:ext cx="34930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Database: OK</a:t>
            </a:r>
            <a:endParaRPr lang="en-US" sz="840" dirty="0"/>
          </a:p>
        </p:txBody>
      </p:sp>
      <p:sp>
        <p:nvSpPr>
          <p:cNvPr id="37" name="Shape 34"/>
          <p:cNvSpPr/>
          <p:nvPr/>
        </p:nvSpPr>
        <p:spPr>
          <a:xfrm>
            <a:off x="10305288" y="4178808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305288" y="4183380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9" name="Text 36"/>
          <p:cNvSpPr/>
          <p:nvPr/>
        </p:nvSpPr>
        <p:spPr>
          <a:xfrm>
            <a:off x="6720840" y="4160520"/>
            <a:ext cx="34930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OpenAI: configured / OK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10305288" y="4562856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305288" y="4567428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6720840" y="4544568"/>
            <a:ext cx="34930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Qdrant: green</a:t>
            </a:r>
            <a:endParaRPr lang="en-US" sz="840" dirty="0"/>
          </a:p>
        </p:txBody>
      </p:sp>
      <p:sp>
        <p:nvSpPr>
          <p:cNvPr id="43" name="Shape 40"/>
          <p:cNvSpPr/>
          <p:nvPr/>
        </p:nvSpPr>
        <p:spPr>
          <a:xfrm>
            <a:off x="10305288" y="4946904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305288" y="4951476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6720840" y="4928616"/>
            <a:ext cx="34930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Production JSON: 1019 unique / 0 duplicate</a:t>
            </a:r>
            <a:endParaRPr lang="en-US" sz="840" dirty="0"/>
          </a:p>
        </p:txBody>
      </p:sp>
      <p:sp>
        <p:nvSpPr>
          <p:cNvPr id="46" name="Text 43"/>
          <p:cNvSpPr/>
          <p:nvPr/>
        </p:nvSpPr>
        <p:spPr>
          <a:xfrm>
            <a:off x="6812280" y="5532120"/>
            <a:ext cx="3657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تاریخ تأیید: ۲۳ ژوئن ۲۰۲۶ / ۲ تیر ۱۴۰۵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ارزش کسب‌وکاری برای آرتین آزما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مزیت اصلی، جمع‌کردن پاسخ‌گویی تخصصی و داده فروش در یک چرخه قابل اندازه‌گیری است.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13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796528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05872" y="1993392"/>
            <a:ext cx="438912" cy="438912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05872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0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سرعت پاسخ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8979408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کاهش زمان جست‌وجوی دستی و آماده‌سازی پاسخ اولیه برای مشتری.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25128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AF7FD"/>
          </a:solidFill>
          <a:ln w="12700">
            <a:solidFill>
              <a:srgbClr val="EAF7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زمان پاسخ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81344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0688" y="1993392"/>
            <a:ext cx="438912" cy="438912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0688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45936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یکنواختی و کیفیت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6364224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 براساس دانش شرکت، قواعد مشخص و منابع قابل کنترل.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9944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8FBF3"/>
          </a:solidFill>
          <a:ln w="12700">
            <a:solidFill>
              <a:srgbClr val="E8FB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رضایت و بازخورد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566160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75504" y="199339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5504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30752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حفظ دانش سازمانی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3749040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کاهش وابستگی به حافظه افراد و قابل‌استفاده‌شدن تجربه‌های قبلی.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94760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FFF3E2"/>
          </a:solidFill>
          <a:ln w="12700">
            <a:solidFill>
              <a:srgbClr val="FFF3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F59E0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تعداد اسناد و موضوعات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50976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1993392"/>
            <a:ext cx="438912" cy="438912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15568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تبدیل تقاضا به داده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1133856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ثبت مشتری، سؤال، درخواست، وضعیت، مسئول و نتیجه پیگیری.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179576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AFBFD"/>
          </a:solidFill>
          <a:ln w="12700">
            <a:solidFill>
              <a:srgbClr val="EAFB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52728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نرخ تبدیل و زمان پیگیری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444752" y="5230368"/>
            <a:ext cx="9326880" cy="502920"/>
          </a:xfrm>
          <a:prstGeom prst="roundRect">
            <a:avLst>
              <a:gd name="adj" fmla="val 21818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83080" y="5376672"/>
            <a:ext cx="8641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معیارهای پیشنهادی پس از بهره‌برداری: زمان پاسخ، رضایت کاربر، موضوعات پرتکرار، تعداد درخواست و نرخ پیگیری کامل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مرحله بعد؛ بهره‌برداری سازمانی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Go-Live انجام شده است؛ تمرکز بعدی باید روی مالکیت، محتوا، کیفیت و استفاده واقعی تیم‌ها باشد.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212080" y="1572768"/>
            <a:ext cx="58064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51592" y="1682496"/>
            <a:ext cx="384048" cy="384048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51592" y="1737360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66760" y="1645920"/>
            <a:ext cx="18745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مالک عملیات و محتوا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5486400" y="1901952"/>
            <a:ext cx="4526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تعیین مسئول روزانه برای دانش، مشتریان و درخواست‌ها</a:t>
            </a:r>
            <a:endParaRPr lang="en-US" sz="790" dirty="0"/>
          </a:p>
        </p:txBody>
      </p:sp>
      <p:sp>
        <p:nvSpPr>
          <p:cNvPr id="14" name="Shape 12"/>
          <p:cNvSpPr/>
          <p:nvPr/>
        </p:nvSpPr>
        <p:spPr>
          <a:xfrm>
            <a:off x="5212080" y="2359152"/>
            <a:ext cx="58064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51592" y="2468880"/>
            <a:ext cx="384048" cy="38404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51592" y="2523744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66760" y="2432304"/>
            <a:ext cx="18745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پایش هفتگی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5486400" y="2688336"/>
            <a:ext cx="4526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گزارش مدیریت، بازخورد منفی، خطا و وضعیت درخواست‌ها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5212080" y="3145536"/>
            <a:ext cx="58064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51592" y="325526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51592" y="3310128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66760" y="3218688"/>
            <a:ext cx="18745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توسعه بانک دانش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5486400" y="3474720"/>
            <a:ext cx="4526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افزودن اسناد فروش، FAQ، دیتاشیت و پاسخ‌های تأییدشده</a:t>
            </a:r>
            <a:endParaRPr lang="en-US" sz="790" dirty="0"/>
          </a:p>
        </p:txBody>
      </p:sp>
      <p:sp>
        <p:nvSpPr>
          <p:cNvPr id="24" name="Shape 22"/>
          <p:cNvSpPr/>
          <p:nvPr/>
        </p:nvSpPr>
        <p:spPr>
          <a:xfrm>
            <a:off x="5212080" y="3931920"/>
            <a:ext cx="58064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51592" y="4041648"/>
            <a:ext cx="384048" cy="384048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51592" y="4096512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66760" y="4005072"/>
            <a:ext cx="18745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آزمون کیفیت و بکاپ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5486400" y="4261104"/>
            <a:ext cx="4526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اجرای eval کامل، تست restore و تعریف alert عملیاتی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5212080" y="4718304"/>
            <a:ext cx="58064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51592" y="4828032"/>
            <a:ext cx="384048" cy="384048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51592" y="488289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66760" y="4791456"/>
            <a:ext cx="18745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گسترش استفاده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5486400" y="5047488"/>
            <a:ext cx="4526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آموزش تیم فروش/مارکتینگ و توسعه مسیر موبایل/Android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896112" y="1572768"/>
            <a:ext cx="3703320" cy="4343400"/>
          </a:xfrm>
          <a:prstGeom prst="roundRect">
            <a:avLst>
              <a:gd name="adj" fmla="val 4938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98448" y="1901952"/>
            <a:ext cx="2880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آماده نمایش زنده</a:t>
            </a:r>
            <a:endParaRPr lang="en-US" sz="2000" dirty="0"/>
          </a:p>
        </p:txBody>
      </p:sp>
      <p:pic>
        <p:nvPicPr>
          <p:cNvPr id="36" name="Image 0" descr="/mnt/data/arti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2542032"/>
            <a:ext cx="1737360" cy="173736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188720" y="4553712"/>
            <a:ext cx="3063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assistant.artinazma.net</a:t>
            </a:r>
            <a:endParaRPr lang="en-US" sz="1030" dirty="0"/>
          </a:p>
        </p:txBody>
      </p:sp>
      <p:sp>
        <p:nvSpPr>
          <p:cNvPr id="38" name="Text 35"/>
          <p:cNvSpPr/>
          <p:nvPr/>
        </p:nvSpPr>
        <p:spPr>
          <a:xfrm>
            <a:off x="1444752" y="5074920"/>
            <a:ext cx="2606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FFC62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پیشنهاد تصمیم مدیریتی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1234440" y="5394960"/>
            <a:ext cx="3063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7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شروع بهره‌برداری کنترل‌شده با تیم فروش و مارکتینگ و تعریف برنامه پایش هفتگی.</a:t>
            </a:r>
            <a:endParaRPr lang="en-US" sz="870" dirty="0"/>
          </a:p>
        </p:txBody>
      </p:sp>
      <p:sp>
        <p:nvSpPr>
          <p:cNvPr id="40" name="Text 37"/>
          <p:cNvSpPr/>
          <p:nvPr/>
        </p:nvSpPr>
        <p:spPr>
          <a:xfrm>
            <a:off x="5394960" y="5715000"/>
            <a:ext cx="5349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endParaRPr lang="en-US" sz="7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برآورد هزینه ماهانه اعتبار API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محاسبه بر اساس مدل gpt-5.1 و قیمت‌گذاری OpenAI ژوئن ۲۰۲۶. روزانه ۱۰۰ سؤال = ماهانه ۳,۰۰۰ پرسش.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796528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05872" y="1993392"/>
            <a:ext cx="438912" cy="438912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05872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0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توکن‌های مدل (gpt-5.1)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8979408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ورودی $1.25/1M · خروجی ~$5/1M · میانگین ۳,۲۰۰ توکن ورودی و ۶۰۰ توکن خروجی در هر پرسش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25128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AF7FD"/>
          </a:solidFill>
          <a:ln w="12700">
            <a:solidFill>
              <a:srgbClr val="EAF7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~$33/ماه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81344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0688" y="1993392"/>
            <a:ext cx="438912" cy="438912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0688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45936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وب‌سرچ هوشمند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6364224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$25 هر ۱,۰۰۰ فراخوانی · ~۴۰٪ پرسش‌ها جست‌وجوی وب را فعال می‌کنند · ماهانه ~۱,۲۰۰ فراخوانی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9944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8FBF3"/>
          </a:solidFill>
          <a:ln w="12700">
            <a:solidFill>
              <a:srgbClr val="E8FB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~$30/ماه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566160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75504" y="199339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5504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30752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بازیابی دانش (Embedding)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3749040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$0.02/1M توکن · هر پرسش ~۲۰۰ توکن · هزینه ناچیز در کنار بازیابی دقیق از بانک دانش ۱,۰۱۹ بخشی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94760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FFF3E2"/>
          </a:solidFill>
          <a:ln w="12700">
            <a:solidFill>
              <a:srgbClr val="FFF3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F59E0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~$0/ماه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50976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1993392"/>
            <a:ext cx="438912" cy="438912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15568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جمع برآورد ماهانه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1133856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توکن مدل + وب‌سرچ + Embedding · ۳,۰۰۰ پرسش/ماه · وب‌سرچ فعال در ~۴۰٪ مواقع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179576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AFBFD"/>
          </a:solidFill>
          <a:ln w="12700">
            <a:solidFill>
              <a:srgbClr val="EAFB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52728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~$63/ماه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444752" y="5230368"/>
            <a:ext cx="9326880" cy="502920"/>
          </a:xfrm>
          <a:prstGeom prst="roundRect">
            <a:avLst>
              <a:gd name="adj" fmla="val 21818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83080" y="5376672"/>
            <a:ext cx="8641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بر اساس قیمت‌گذاری OpenAI ژوئن ۲۰۲۶. با فعال‌سازی Prompt Caching، هزینه توکن ورودی تا ۹۰٪ کاهش می‌یابد و جمع کل به ~$36/ماه می‌رسد.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مشخصات سرور و ظرفیت اجرا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یک VPS اختصاصی روی Ubuntu 24.04 LTS با ظرفیت اجرای پایدار برای حدود ۲۰۰ کاربر همزمان.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41248" y="1609344"/>
            <a:ext cx="5486400" cy="4224528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187452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975104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۳۲ گیگابایت RAM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554480" y="1975104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حافظه برای Postgres، Qdrant و Backend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1298448" y="2551176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10A8D0"/>
          </a:solidFill>
          <a:ln w="12700">
            <a:solidFill>
              <a:srgbClr val="10A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651760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۸ هسته پردازنده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554480" y="2651760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اجرای موازی درخواست‌ها و embedding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1298448" y="3227832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084C7"/>
          </a:solidFill>
          <a:ln w="12700">
            <a:solidFill>
              <a:srgbClr val="00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328416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۱۰۰ گیگابایت SSD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554480" y="3328416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فضای دیتابیس، دانش و بک‌آپ‌های هفته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1298448" y="390448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EAD7A"/>
          </a:solidFill>
          <a:ln w="12700">
            <a:solidFill>
              <a:srgbClr val="0EAD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4005072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۱ گیگابیت پهنای باند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554480" y="4005072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پاسخ‌گویی سریع به ترافیک همزمان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1298448" y="4581144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FFC629"/>
          </a:solidFill>
          <a:ln w="12700">
            <a:solidFill>
              <a:srgbClr val="FFC6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4681728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مرکز داده آلمان (Hetzner)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554480" y="4681728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Ubuntu 24.04 LTS و IP اختصاصی</a:t>
            </a:r>
            <a:endParaRPr lang="en-US" sz="710" dirty="0"/>
          </a:p>
        </p:txBody>
      </p:sp>
      <p:sp>
        <p:nvSpPr>
          <p:cNvPr id="25" name="Text 23"/>
          <p:cNvSpPr/>
          <p:nvPr/>
        </p:nvSpPr>
        <p:spPr>
          <a:xfrm>
            <a:off x="1325880" y="5440680"/>
            <a:ext cx="4526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4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زیرساخت برای فاز اول کافی است و در صورت رشد، امکان ارتقا روی همان سرور وجود دارد.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7589520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ظرفیت، هزینه و پشتیبانی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16768" y="2194560"/>
            <a:ext cx="201168" cy="201168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16768" y="2199132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6995160" y="2176272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ظرفیت تخمینی: حدود ۲۰۰ کاربر همزمان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10716768" y="2715768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16768" y="2720340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6995160" y="2697480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هزینه ماهانه: ۲٬۹۹۷٬۰۰۰ تومان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10716768" y="323697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16768" y="3241548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6995160" y="3218688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۱۰۰ گیگابایت ترافیک ماهانه (قابل افزایش)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10716768" y="3758184"/>
            <a:ext cx="201168" cy="201168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16768" y="3762756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6995160" y="3739896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پشتیبانی ۲۴/۷ از سمت ارائه‌دهنده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10716768" y="4279392"/>
            <a:ext cx="201168" cy="201168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16768" y="4283964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6995160" y="4261104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دسترسی SSH امن و فایروال فعال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10716768" y="4800600"/>
            <a:ext cx="201168" cy="201168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16768" y="4805172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6995160" y="4782312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قابل ارتقا در صورت رشد کاربر یا دانش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949440" y="5413248"/>
            <a:ext cx="4114800" cy="411480"/>
          </a:xfrm>
          <a:prstGeom prst="roundRect">
            <a:avLst>
              <a:gd name="adj" fmla="val 24444"/>
            </a:avLst>
          </a:prstGeom>
          <a:solidFill>
            <a:srgbClr val="E8FBF3"/>
          </a:solidFill>
          <a:ln w="8890">
            <a:solidFill>
              <a:srgbClr val="C4F1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7184" y="5513832"/>
            <a:ext cx="3639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8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این سرور برای فاز اول داخلی Artin (کارمندان و مشتریان کلیدی) کاملاً کافی است.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نسخه پشتیبان و بازیابی فاجعه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بک‌آپ روزانه از دیتابیس و دانش، همراه با ذخیره‌سازی خارج از سرور روی ArvanCloud.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41248" y="1609344"/>
            <a:ext cx="5486400" cy="4224528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187452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975104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بک‌آپ روزانه خودکار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554480" y="1975104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هر روز ۰۰:۳۰ UTC با systemd timer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1298448" y="2551176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10A8D0"/>
          </a:solidFill>
          <a:ln w="12700">
            <a:solidFill>
              <a:srgbClr val="10A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651760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PostgreSQL — pg_dump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554480" y="2651760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خروجی فشرده‌شده با gzip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1298448" y="3227832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084C7"/>
          </a:solidFill>
          <a:ln w="12700">
            <a:solidFill>
              <a:srgbClr val="00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328416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Qdrant — Snapshot API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554480" y="3328416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ذخیره کامل بانک برداری دانش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1298448" y="390448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EAD7A"/>
          </a:solidFill>
          <a:ln w="12700">
            <a:solidFill>
              <a:srgbClr val="0EAD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4005072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انتقال به ArvanCloud S3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554480" y="4005072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همگام‌سازی با rclone روی فضای ابری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1298448" y="4581144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FFC629"/>
          </a:solidFill>
          <a:ln w="12700">
            <a:solidFill>
              <a:srgbClr val="FFC6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4681728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بک‌آپ فایل .env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554480" y="4681728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تنظیمات حساس به‌صورت فشرده و امن</a:t>
            </a:r>
            <a:endParaRPr lang="en-US" sz="710" dirty="0"/>
          </a:p>
        </p:txBody>
      </p:sp>
      <p:sp>
        <p:nvSpPr>
          <p:cNvPr id="25" name="Text 23"/>
          <p:cNvSpPr/>
          <p:nvPr/>
        </p:nvSpPr>
        <p:spPr>
          <a:xfrm>
            <a:off x="1325880" y="5440680"/>
            <a:ext cx="4526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4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اولین انتقال خارج از سرور: ۲۳ ژوئن ۲۰۲۶ — ۱۲ فایل، ۶۹ مگابایت روی ArvanCloud.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7589520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تضمین‌های پایداری داده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16768" y="2194560"/>
            <a:ext cx="201168" cy="201168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16768" y="2199132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6995160" y="2176272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نسخه‌برداری روزانه از PostgreSQL و Qdrant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10716768" y="2715768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16768" y="2720340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6995160" y="2697480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نگهداری ۷ روز نسخه قدیمی روی سرور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10716768" y="323697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16768" y="3241548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6995160" y="3218688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ذخیره‌سازی خارج از سرور روی ArvanCloud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10716768" y="3758184"/>
            <a:ext cx="201168" cy="201168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16768" y="3762756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6995160" y="3739896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اجرای کاملاً خودکار با systemd timer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10716768" y="4279392"/>
            <a:ext cx="201168" cy="201168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16768" y="4283964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6995160" y="4261104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پشتیبانی همزمان از SQLite و PostgreSQL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10716768" y="4800600"/>
            <a:ext cx="201168" cy="201168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16768" y="4805172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6995160" y="4782312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امکان بازیابی روی هر سرور دیگر در صورت نیاز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949440" y="5413248"/>
            <a:ext cx="4114800" cy="411480"/>
          </a:xfrm>
          <a:prstGeom prst="roundRect">
            <a:avLst>
              <a:gd name="adj" fmla="val 24444"/>
            </a:avLst>
          </a:prstGeom>
          <a:solidFill>
            <a:srgbClr val="E8FBF3"/>
          </a:solidFill>
          <a:ln w="8890">
            <a:solidFill>
              <a:srgbClr val="C4F1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7184" y="5513832"/>
            <a:ext cx="3639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8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حتی در صورت از‌دست‌رفتن کامل سرور، داده و دانش روی ابر ArvanCloud باقی می‌ماند.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جمع‌بندی هزینه‌های ماهانه پروژه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ترکیب هزینه‌های زیرساخت، API و ذخیره‌سازی برای فاز اول؛ کل پروژه با حدود ۵ میلیون تومان در ماه نگه‌داری می‌شود.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796528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05872" y="1993392"/>
            <a:ext cx="438912" cy="438912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05872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0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اعتبار API OpenAI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8979408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توکن مدل + وب‌سرچ + Embedding برای ۳٬۰۰۰ پرسش/ماه؛ پس از فعال‌سازی Prompt Caching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25128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AF7FD"/>
          </a:solidFill>
          <a:ln w="12700">
            <a:solidFill>
              <a:srgbClr val="EAF7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~$36/ماه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81344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0688" y="1993392"/>
            <a:ext cx="438912" cy="438912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0688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45936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سرور VPS (آلمان)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6364224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Hetzner — ۳۲GB RAM · ۸ هسته · ۱۰۰GB SSD · ۱Gbps · ظرفیت ~۲۰۰ کاربر همزمان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9944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8FBF3"/>
          </a:solidFill>
          <a:ln w="12700">
            <a:solidFill>
              <a:srgbClr val="E8FB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~۲٬۹۹۷٬۰۰۰ تومان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566160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75504" y="199339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5504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30752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ذخیره‌سازی ابری ArvanCloud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3749040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نسخه پشتیبان دیتابیس، دانش و .env روی ابر؛ مصرف فعلی حدود ۷۰ مگابایت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94760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FFF3E2"/>
          </a:solidFill>
          <a:ln w="12700">
            <a:solidFill>
              <a:srgbClr val="FFF3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F59E0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ناچیز (~۵۰٬۰۰۰ تومان)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50976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1993392"/>
            <a:ext cx="438912" cy="438912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15568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جمع کل ماهانه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1133856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API + سرور + ذخیره‌سازی · نرخ تبدیل تقریبی ۶۰٬۰۰۰ تومان/دلار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179576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AFBFD"/>
          </a:solidFill>
          <a:ln w="12700">
            <a:solidFill>
              <a:srgbClr val="EAFB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52728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~۵٬۲۰۰٬۰۰۰ تومان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444752" y="5230368"/>
            <a:ext cx="9326880" cy="502920"/>
          </a:xfrm>
          <a:prstGeom prst="roundRect">
            <a:avLst>
              <a:gd name="adj" fmla="val 21818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83080" y="5376672"/>
            <a:ext cx="8641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هزینه ماهانه پایدار حدود ۵٬۲۰۰٬۰۰۰ تومان (~$87) — معادل کسری از حقوق یک کارشناس فنی، با ظرفیت پاسخ‌گویی به ۲۰۰ کاربر همزمان.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Arab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1628</Words>
  <Application>Microsoft Office PowerPoint</Application>
  <PresentationFormat>Widescreen</PresentationFormat>
  <Paragraphs>280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Noto Sans Arabic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Artin Azma Mehr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دستیار هوشمند تخصصی آرتین آزما</dc:title>
  <dc:subject>ArtinAzma Expert Assistant introduction</dc:subject>
  <dc:creator>Artin Azma Mehr</dc:creator>
  <cp:lastModifiedBy>vahid arbaa</cp:lastModifiedBy>
  <cp:revision>4</cp:revision>
  <dcterms:created xsi:type="dcterms:W3CDTF">2026-06-22T12:13:30Z</dcterms:created>
  <dcterms:modified xsi:type="dcterms:W3CDTF">2026-06-22T12:28:09Z</dcterms:modified>
</cp:coreProperties>
</file>