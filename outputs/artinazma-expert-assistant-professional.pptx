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f17accf8fc4bac" /><Relationship Type="http://schemas.openxmlformats.org/officeDocument/2006/relationships/extended-properties" Target="/docProps/app.xml" Id="Ra02dcea2db17436a" /><Relationship Type="http://schemas.openxmlformats.org/officeDocument/2006/relationships/officeDocument" Target="/ppt/presentation.xml" Id="R20ebab06c913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19e7ee5dc4f79"/>
  </p:sldMasterIdLst>
  <p:notesMasterIdLst>
    <p:notesMasterId xmlns:r="http://schemas.openxmlformats.org/officeDocument/2006/relationships" r:id="R08d98cf614934824"/>
  </p:notesMasterIdLst>
  <p:sldIdLst>
    <p:sldId xmlns:r="http://schemas.openxmlformats.org/officeDocument/2006/relationships" id="256" r:id="R88393b73fd824e22"/>
    <p:sldId xmlns:r="http://schemas.openxmlformats.org/officeDocument/2006/relationships" id="257" r:id="R02995894b27c45d9"/>
    <p:sldId xmlns:r="http://schemas.openxmlformats.org/officeDocument/2006/relationships" id="258" r:id="Ra23b2c74b5d246fc"/>
    <p:sldId xmlns:r="http://schemas.openxmlformats.org/officeDocument/2006/relationships" id="259" r:id="R0f6b0754b5c947af"/>
    <p:sldId xmlns:r="http://schemas.openxmlformats.org/officeDocument/2006/relationships" id="260" r:id="Rfd0bec7a37154659"/>
    <p:sldId xmlns:r="http://schemas.openxmlformats.org/officeDocument/2006/relationships" id="261" r:id="Race907f3302245f4"/>
    <p:sldId xmlns:r="http://schemas.openxmlformats.org/officeDocument/2006/relationships" id="262" r:id="R908f1cd74f87473e"/>
    <p:sldId xmlns:r="http://schemas.openxmlformats.org/officeDocument/2006/relationships" id="263" r:id="R20e064f88d674db9"/>
    <p:sldId xmlns:r="http://schemas.openxmlformats.org/officeDocument/2006/relationships" id="264" r:id="R2b403d07d72244e9"/>
    <p:sldId xmlns:r="http://schemas.openxmlformats.org/officeDocument/2006/relationships" id="265" r:id="R72654296889e45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58f6e87c946ff" /><Relationship Type="http://schemas.openxmlformats.org/officeDocument/2006/relationships/slideMaster" Target="/ppt/slideMasters/slideMaster1.xml" Id="R2e719e7ee5dc4f79" /><Relationship Type="http://schemas.openxmlformats.org/officeDocument/2006/relationships/notesMaster" Target="/ppt/notesMasters/notesMaster1.xml" Id="R08d98cf614934824" /><Relationship Type="http://schemas.openxmlformats.org/officeDocument/2006/relationships/presProps" Target="/ppt/presProps.xml" Id="R66645bc1a4774263" /><Relationship Type="http://schemas.openxmlformats.org/officeDocument/2006/relationships/tableStyles" Target="/ppt/tableStyles.xml" Id="Rfb64026edea54e60" /><Relationship Type="http://schemas.openxmlformats.org/officeDocument/2006/relationships/slide" Target="/ppt/slides/slide1.xml" Id="R88393b73fd824e22" /><Relationship Type="http://schemas.openxmlformats.org/officeDocument/2006/relationships/slide" Target="/ppt/slides/slide2.xml" Id="R02995894b27c45d9" /><Relationship Type="http://schemas.openxmlformats.org/officeDocument/2006/relationships/slide" Target="/ppt/slides/slide3.xml" Id="Ra23b2c74b5d246fc" /><Relationship Type="http://schemas.openxmlformats.org/officeDocument/2006/relationships/slide" Target="/ppt/slides/slide4.xml" Id="R0f6b0754b5c947af" /><Relationship Type="http://schemas.openxmlformats.org/officeDocument/2006/relationships/slide" Target="/ppt/slides/slide5.xml" Id="Rfd0bec7a37154659" /><Relationship Type="http://schemas.openxmlformats.org/officeDocument/2006/relationships/slide" Target="/ppt/slides/slide6.xml" Id="Race907f3302245f4" /><Relationship Type="http://schemas.openxmlformats.org/officeDocument/2006/relationships/slide" Target="/ppt/slides/slide7.xml" Id="R908f1cd74f87473e" /><Relationship Type="http://schemas.openxmlformats.org/officeDocument/2006/relationships/slide" Target="/ppt/slides/slide8.xml" Id="R20e064f88d674db9" /><Relationship Type="http://schemas.openxmlformats.org/officeDocument/2006/relationships/slide" Target="/ppt/slides/slide9.xml" Id="R2b403d07d72244e9" /><Relationship Type="http://schemas.openxmlformats.org/officeDocument/2006/relationships/slide" Target="/ppt/slides/slide10.xml" Id="R72654296889e45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9dce50a64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eb5d83f7164f2c" /><Relationship Type="http://schemas.openxmlformats.org/officeDocument/2006/relationships/notesMaster" Target="/ppt/notesMasters/notesMaster1.xml" Id="R39fd92025c81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d3a033969456a" /><Relationship Type="http://schemas.openxmlformats.org/officeDocument/2006/relationships/notesMaster" Target="/ppt/notesMasters/notesMaster1.xml" Id="R4ed344594472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6ba4dafd054237" /><Relationship Type="http://schemas.openxmlformats.org/officeDocument/2006/relationships/notesMaster" Target="/ppt/notesMasters/notesMaster1.xml" Id="Rd15ad751ef27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d163fb86e74135" /><Relationship Type="http://schemas.openxmlformats.org/officeDocument/2006/relationships/notesMaster" Target="/ppt/notesMasters/notesMaster1.xml" Id="Rc34680804abe4c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54247784e4965" /><Relationship Type="http://schemas.openxmlformats.org/officeDocument/2006/relationships/notesMaster" Target="/ppt/notesMasters/notesMaster1.xml" Id="Rc866931c5de144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dc95e0a21846de" /><Relationship Type="http://schemas.openxmlformats.org/officeDocument/2006/relationships/notesMaster" Target="/ppt/notesMasters/notesMaster1.xml" Id="Rf36cf527e55d49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9a09cb2ae343e7" /><Relationship Type="http://schemas.openxmlformats.org/officeDocument/2006/relationships/notesMaster" Target="/ppt/notesMasters/notesMaster1.xml" Id="Rb3b91b17d1e947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1bb80c38e74378" /><Relationship Type="http://schemas.openxmlformats.org/officeDocument/2006/relationships/notesMaster" Target="/ppt/notesMasters/notesMaster1.xml" Id="R104f7210e0a042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a2ecc99a054350" /><Relationship Type="http://schemas.openxmlformats.org/officeDocument/2006/relationships/notesMaster" Target="/ppt/notesMasters/notesMaster1.xml" Id="R39b5298cee424a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c92fe07bad4dee" /><Relationship Type="http://schemas.openxmlformats.org/officeDocument/2006/relationships/notesMaster" Target="/ppt/notesMasters/notesMaster1.xml" Id="Rf16fb683f059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a4143e511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6e62c40ad2463a" /><Relationship Type="http://schemas.openxmlformats.org/officeDocument/2006/relationships/slideLayout" Target="/ppt/slideLayouts/slideLayout1.xml" Id="Radc1604bf838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c1604bf838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4ab8abc34a5b" /><Relationship Type="http://schemas.openxmlformats.org/officeDocument/2006/relationships/image" Target="/ppt/media/image.jpeg" Id="R7cba62cc14c949d5" /><Relationship Type="http://schemas.openxmlformats.org/officeDocument/2006/relationships/image" Target="/ppt/media/image.png" Id="R4f12140e136148e8" /><Relationship Type="http://schemas.openxmlformats.org/officeDocument/2006/relationships/notesSlide" Target="/ppt/notesSlides/notesSlide1.xml" Id="Raccb138844864f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32763ab4e4321" /><Relationship Type="http://schemas.openxmlformats.org/officeDocument/2006/relationships/image" Target="/ppt/media/image2.jpeg" Id="Ra45919838d0d4202" /><Relationship Type="http://schemas.openxmlformats.org/officeDocument/2006/relationships/image" Target="/ppt/media/image3.jpeg" Id="R9a7fa29920cc400b" /><Relationship Type="http://schemas.openxmlformats.org/officeDocument/2006/relationships/image" Target="/ppt/media/image4.jpeg" Id="R632c5093316e4166" /><Relationship Type="http://schemas.openxmlformats.org/officeDocument/2006/relationships/image" Target="/ppt/media/image5.jpeg" Id="Rc257fc91d1eb40c1" /><Relationship Type="http://schemas.openxmlformats.org/officeDocument/2006/relationships/notesSlide" Target="/ppt/notesSlides/notesSlide2.xml" Id="Ra8d990dcc027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6f6cf48464a3e" /><Relationship Type="http://schemas.openxmlformats.org/officeDocument/2006/relationships/notesSlide" Target="/ppt/notesSlides/notesSlide3.xml" Id="R0d959b47704a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3534910614ed8" /><Relationship Type="http://schemas.openxmlformats.org/officeDocument/2006/relationships/image" Target="/ppt/media/image6.jpeg" Id="R5ba6878a35c84177" /><Relationship Type="http://schemas.openxmlformats.org/officeDocument/2006/relationships/notesSlide" Target="/ppt/notesSlides/notesSlide4.xml" Id="R224c97d3030945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9e648097a406a" /><Relationship Type="http://schemas.openxmlformats.org/officeDocument/2006/relationships/notesSlide" Target="/ppt/notesSlides/notesSlide5.xml" Id="Rf3da0615d1fc40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d7d76cdc748e0" /><Relationship Type="http://schemas.openxmlformats.org/officeDocument/2006/relationships/notesSlide" Target="/ppt/notesSlides/notesSlide6.xml" Id="R25d79f49a14e4a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9320e23a74527" /><Relationship Type="http://schemas.openxmlformats.org/officeDocument/2006/relationships/image" Target="/ppt/media/image7.jpeg" Id="Rb1a2d37f2c0e4b69" /><Relationship Type="http://schemas.openxmlformats.org/officeDocument/2006/relationships/notesSlide" Target="/ppt/notesSlides/notesSlide7.xml" Id="R72a9d81d855245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2aee630684b20" /><Relationship Type="http://schemas.openxmlformats.org/officeDocument/2006/relationships/image" Target="/ppt/media/image2.png" Id="R9526230d0d904afe" /><Relationship Type="http://schemas.openxmlformats.org/officeDocument/2006/relationships/notesSlide" Target="/ppt/notesSlides/notesSlide8.xml" Id="R3c811846d2f04b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64b77eabb4116" /><Relationship Type="http://schemas.openxmlformats.org/officeDocument/2006/relationships/notesSlide" Target="/ppt/notesSlides/notesSlide9.xml" Id="R572054ba792a4a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d03e120f488e" /><Relationship Type="http://schemas.openxmlformats.org/officeDocument/2006/relationships/image" Target="/ppt/media/image3.png" Id="R24d04b3469724f13" /><Relationship Type="http://schemas.openxmlformats.org/officeDocument/2006/relationships/notesSlide" Target="/ppt/notesSlides/notesSlide10.xml" Id="R846c2ef864db4d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5DED2-05EB-4BED-AA33-7AD6035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37F7E-F47D-4ED1-996E-379B4016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62cc14c949d5"/>
          <a:srcRect xmlns:a="http://schemas.openxmlformats.org/drawingml/2006/main" l="29688" t="0" r="29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64A43-5122-4201-8E66-7E83C0DE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140e136148e8"/>
          <a:stretch xmlns:a="http://schemas.openxmlformats.org/drawingml/2006/main"/>
        </p:blipFill>
        <p:spPr>
          <a:xfrm xmlns:a="http://schemas.openxmlformats.org/drawingml/2006/main">
            <a:off x="457200" y="422934"/>
            <a:ext cx="2381250" cy="8686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6EB41-B27D-4C4C-963F-F22664D3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0C6"/>
                </a:solidFill>
              </a:defRPr>
            </a:pPr>
            <a:r>
              <a:rPr sz="1200" b="1">
                <a:solidFill>
                  <a:srgbClr val="00A0C6"/>
                </a:solidFill>
              </a:rPr>
              <a:t>ARTINAZMA EXPERT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38F91-6818-44E1-BAFB-9169226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37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7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دستیار تخصصی</a:t>
            </a:r>
          </a:p>
          <a:p xmlns:a="http://schemas.openxmlformats.org/drawingml/2006/main">
            <a:pPr algn="r" rtl="1">
              <a:defRPr sz="37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7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آرتین آزما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0E0E1-2B5D-4BD0-B39F-AC3705C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800" b="0" lang="fa-IR" altLang="en-US">
                <a:solidFill>
                  <a:srgbClr val="C9D8E8"/>
                </a:solidFill>
                <a:latin typeface="Tahoma"/>
                <a:ea typeface="Tahoma"/>
                <a:cs typeface="Tahoma"/>
              </a:defRPr>
            </a:pPr>
            <a:r>
              <a:rPr sz="1800" b="0" lang="fa-IR" altLang="en-US">
                <a:solidFill>
                  <a:srgbClr val="C9D8E8"/>
                </a:solidFill>
                <a:latin typeface="Tahoma"/>
                <a:ea typeface="Tahoma"/>
                <a:cs typeface="Tahoma"/>
              </a:rPr>
              <a:t xml:space="preserve">دانش فنی، تحلیل آزمایشگاهی و ارتباط با مشتری</a:t>
            </a:r>
          </a:p>
          <a:p xmlns:a="http://schemas.openxmlformats.org/drawingml/2006/main">
            <a:pPr algn="r" rtl="1">
              <a:defRPr sz="1800" b="0" lang="fa-IR" altLang="en-US">
                <a:solidFill>
                  <a:srgbClr val="C9D8E8"/>
                </a:solidFill>
                <a:latin typeface="Tahoma"/>
                <a:ea typeface="Tahoma"/>
                <a:cs typeface="Tahoma"/>
              </a:defRPr>
            </a:pPr>
            <a:r>
              <a:rPr sz="1800" b="0" lang="fa-IR" altLang="en-US">
                <a:solidFill>
                  <a:srgbClr val="C9D8E8"/>
                </a:solidFill>
                <a:latin typeface="Tahoma"/>
                <a:ea typeface="Tahoma"/>
                <a:cs typeface="Tahoma"/>
              </a:rPr>
              <a:t xml:space="preserve">در یک تجربه یکپارچه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77752-C5DE-4BAD-B482-76F31136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295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EAE0F-7F46-45ED-BE46-7262BC4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50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نفت، گاز، پتروشیمی و آزمایشگاه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8A93B-7117-470F-BD36-66B67D5F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050" b="0" lang="fa-IR" altLang="en-US">
                <a:solidFill>
                  <a:srgbClr val="91A8BE"/>
                </a:solidFill>
                <a:latin typeface="Tahoma"/>
                <a:ea typeface="Tahoma"/>
                <a:cs typeface="Tahoma"/>
              </a:defRPr>
            </a:pPr>
            <a:r>
              <a:rPr sz="1050" b="0" lang="fa-IR" altLang="en-US">
                <a:solidFill>
                  <a:srgbClr val="91A8BE"/>
                </a:solidFill>
                <a:latin typeface="Tahoma"/>
                <a:ea typeface="Tahoma"/>
                <a:cs typeface="Tahoma"/>
              </a:rPr>
              <a:t xml:space="preserve">معرفی محصول | ۲۰۲۶</a:t>
            </a:r>
          </a:p>
        </p:txBody>
      </p:sp>
    </p:spTree>
    <p:extLst>
      <p:ext uri="{BB962C8B-B14F-4D97-AF65-F5344CB8AC3E}">
        <p14:creationId xmlns:p14="http://schemas.microsoft.com/office/powerpoint/2010/main" val="944269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D3C91-F805-49F1-B256-524B103D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مسئله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AAF69-9EF4-4974-81CB-19587C7F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تصمیم فنی به یک منبع محدود نمی‌شود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F09CA-D223-4BFD-BB8E-2F31CA1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070E9-4A14-4B03-8F0E-1A7BE1D8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7"/>
                </a:solidFill>
              </a:defRPr>
            </a:pPr>
            <a:r>
              <a:rPr sz="975" b="0">
                <a:solidFill>
                  <a:srgbClr val="60708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12449-E01E-4199-8F45-EF0269C4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762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10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10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پاسخ حرفه‌ای زمانی شکل می‌گیرد که استاندارد،</a:t>
            </a:r>
          </a:p>
          <a:p xmlns:a="http://schemas.openxmlformats.org/drawingml/2006/main">
            <a:pPr algn="r" rtl="1">
              <a:defRPr sz="210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10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داده آزمایشگاهی، مشخصات تجهیز و تجربه کارشناس</a:t>
            </a:r>
          </a:p>
          <a:p xmlns:a="http://schemas.openxmlformats.org/drawingml/2006/main">
            <a:pPr algn="r" rtl="1">
              <a:defRPr sz="210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10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کنار هم قرار بگیرند.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7EA0D-36DD-480C-B74B-200F8534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4A1E2-92D0-40E9-8BCE-FBDCB94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42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42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استاندارد و روش آزمون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C1705-EB5B-411D-A261-D318130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125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125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ASTM، آماده‌سازی نمونه و کنترل کیفیت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2555C-F3EF-49D5-B1A5-04AD613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F0F07-1327-4FFD-8E7E-88284E5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42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42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مشخصات تجهیز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D8D97-AB42-4021-9CB1-3808234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125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125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مدل، محدوده اندازه‌گیری، کالیبراسیون و مواد مصرفی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2F7C-4E95-4336-999D-8F7DD4EC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09045-7A04-4863-8074-C93AE358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42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42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داده آزمایشگاهی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046EB-CCB4-4FD2-9A22-E9EAE55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125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125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گزارش، جدول، نمودار، کروماتوگرام و داده‌های QC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919838d0d4202"/>
          <a:stretch xmlns:a="http://schemas.openxmlformats.org/drawingml/2006/main"/>
        </p:blipFill>
        <p:spPr>
          <a:xfrm xmlns:a="http://schemas.openxmlformats.org/drawingml/2006/main">
            <a:off x="6004664" y="1524000"/>
            <a:ext cx="2087671" cy="21336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fa29920cc400b"/>
          <a:srcRect xmlns:a="http://schemas.openxmlformats.org/drawingml/2006/main" l="0" t="1977" r="0" b="1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1524000"/>
            <a:ext cx="3086100" cy="21336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c5093316e4166"/>
          <a:stretch xmlns:a="http://schemas.openxmlformats.org/drawingml/2006/main"/>
        </p:blipFill>
        <p:spPr>
          <a:xfrm xmlns:a="http://schemas.openxmlformats.org/drawingml/2006/main">
            <a:off x="5695950" y="4097158"/>
            <a:ext cx="2705100" cy="1692635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7fc91d1eb40c1"/>
          <a:stretch xmlns:a="http://schemas.openxmlformats.org/drawingml/2006/main"/>
        </p:blipFill>
        <p:spPr>
          <a:xfrm xmlns:a="http://schemas.openxmlformats.org/drawingml/2006/main">
            <a:off x="8648700" y="3992956"/>
            <a:ext cx="3086100" cy="1901038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AC15F-84FE-4E61-BA7A-FEE169A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تصویرها از کاتالوگ فعلی آرتین آزما</a:t>
            </a:r>
          </a:p>
        </p:txBody>
      </p:sp>
    </p:spTree>
    <p:extLst>
      <p:ext uri="{BB962C8B-B14F-4D97-AF65-F5344CB8AC3E}">
        <p14:creationId xmlns:p14="http://schemas.microsoft.com/office/powerpoint/2010/main" val="1812038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F08C2-21E7-4AF9-9331-80793329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راهکار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6E326-9B42-4B2C-AC49-03A916E6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آرتین چهار نیاز روزمره را یک‌جا پوشش می‌دهد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64F27-421C-4821-A5E2-11CF7EA3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CB4FB-61F1-45A2-AE99-83439A2C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7"/>
                </a:solidFill>
              </a:defRPr>
            </a:pPr>
            <a:r>
              <a:rPr sz="975" b="0">
                <a:solidFill>
                  <a:srgbClr val="60708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36954-3A70-4C40-B59B-45E86463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6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6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یک نقطه ورود برای پرسش، تحلیل، انتخاب و عیب‌یابی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05E54-A01E-4782-A345-6C4FFB5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75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75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۰۱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928BB-27FB-49D4-A2C8-380EDD9F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پاسخ تخصصی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7198C-B68B-4BF9-9F00-D5B0F691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628A6-D432-4BF6-B9F5-77137522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تجهیزات، روش آزمون، مواد شیمیایی و کاتالیست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84D96-517D-4052-AE07-1293372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717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574F7-F3C5-44D8-A868-F68EBF3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75" b="1" lang="fa-IR" altLang="en-US">
                <a:solidFill>
                  <a:srgbClr val="1B8B67"/>
                </a:solidFill>
                <a:latin typeface="Tahoma"/>
                <a:ea typeface="Tahoma"/>
                <a:cs typeface="Tahoma"/>
              </a:defRPr>
            </a:pPr>
            <a:r>
              <a:rPr sz="1275" b="1" lang="fa-IR" altLang="en-US">
                <a:solidFill>
                  <a:srgbClr val="1B8B67"/>
                </a:solidFill>
                <a:latin typeface="Tahoma"/>
                <a:ea typeface="Tahoma"/>
                <a:cs typeface="Tahoma"/>
              </a:rPr>
              <a:t xml:space="preserve">۰۲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9F817-C3E6-4F1D-8855-D233ECF2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تحلیل فایل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95104-2CAE-4780-BFA8-1206CBE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789A6-BBFA-495E-860B-E08510C9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PDF، Excel، CSV، تصویر و داده‌های کنترل کیفیت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C52E8-07D6-417D-9B00-C8211A92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717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9409C-B49C-4161-B36B-48844C1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75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defRPr>
            </a:pPr>
            <a:r>
              <a:rPr sz="1275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rPr>
              <a:t xml:space="preserve">۰۳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EE523-D07F-4B48-9374-FF9EB41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پیشنهاد فنی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82AFB-023B-4EED-B0CF-F9D52B0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B4312-C128-469E-8A05-1B5C8301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انتخاب تجهیز، محدوده، آماده‌سازی نمونه و کنترل کیفیت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B7625-A432-4C0B-AE3F-706B9D3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717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895AF-2245-431E-AD17-3A34DD42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75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defRPr>
            </a:pPr>
            <a:r>
              <a:rPr sz="1275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rPr>
              <a:t xml:space="preserve">۰۴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A2461-D385-4E0B-A96F-CDFDA8D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عیب‌یابی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0B4C9-ED29-408E-BE26-2492475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CE307-3B93-4412-BFB5-588453EE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خطا، کالیبراسیون، خط پایه، مواد مصرفی و شرایط دستگاه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845E7-2B78-438B-BEE1-30DB098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48055-E3A9-41F8-BF94-2B26900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4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نتیجه: پاسخ فنی از همان ابتدا به مسیر اقدام و پیگیری متصل می‌شود.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F0883-07EB-4AB3-AC3D-7B37BD5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قابلیت‌های پیاده‌سازی‌شده در نسخه فعلی اپ</a:t>
            </a:r>
          </a:p>
        </p:txBody>
      </p:sp>
    </p:spTree>
    <p:extLst>
      <p:ext uri="{BB962C8B-B14F-4D97-AF65-F5344CB8AC3E}">
        <p14:creationId xmlns:p14="http://schemas.microsoft.com/office/powerpoint/2010/main" val="21474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A9BC4-CBF5-4A94-9D14-6427AD7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تجربه کاربر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A8C40-DA78-4B08-B937-E3120087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تجربه کاربر تا پیگیری درخواست ادامه دارد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6236E-77A7-4C17-9C79-D083B414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DF146-4EEC-4F24-B712-C09F463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7"/>
                </a:solidFill>
              </a:defRPr>
            </a:pPr>
            <a:r>
              <a:rPr sz="975" b="0">
                <a:solidFill>
                  <a:srgbClr val="607087"/>
                </a:solidFill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6878a35c84177"/>
          <a:srcRect xmlns:a="http://schemas.openxmlformats.org/drawingml/2006/main" l="7925" t="0" r="7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7124700" cy="47625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9F35B-E294-46AC-A75E-B5387EC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829050" cy="476250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F889-977A-4AE1-9498-7C33DCFA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rPr>
              <a:t xml:space="preserve">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150B1-9F2F-4ED4-8003-C934CE73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6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ورود امن و پروفایل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7189E-BA75-460F-AD6D-BB08C61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حساب مشتری و مدیریت نشست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9A200-DE27-47D4-9CD5-6A6EF50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B84B3-2262-4602-9293-B45079D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rPr>
              <a:t xml:space="preserve">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91E12-C7A8-48E0-86CA-3B14E23E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6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ادامه گفت‌وگو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1EF22-1A3D-48D8-906A-6BE163D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تاریخچه، حافظه و ادامه تعامل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E81BA-901B-41D5-862B-A6E5237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557E3-B633-47E9-B945-002E158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rPr>
              <a:t xml:space="preserve">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5871C-0465-4A9F-B8C3-B510F76F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6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درخواست و پیگیری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59B5D-E128-4B68-89DE-121B0A35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مشاوره، پشتیبانی و استعلام قیمت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DB8DA-3F71-4079-9C02-176F59A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350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defRPr>
            </a:pPr>
            <a:r>
              <a:rPr sz="1350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rPr>
              <a:t xml:space="preserve">از ورود تا اقدام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62D68-826F-44F5-9F38-3BA6BB0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نمای واقعی نسخه محلی اپ</a:t>
            </a:r>
          </a:p>
        </p:txBody>
      </p:sp>
    </p:spTree>
    <p:extLst>
      <p:ext uri="{BB962C8B-B14F-4D97-AF65-F5344CB8AC3E}">
        <p14:creationId xmlns:p14="http://schemas.microsoft.com/office/powerpoint/2010/main" val="1384449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40629-79F0-4E61-B408-AFFB7F61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rPr>
              <a:t xml:space="preserve">جریان پاسخ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60E3A-5BFE-4D1A-BFEF-14E6BE16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هر پاسخ، سه مرحله کنترل‌شده دارد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64893-AE59-4EB9-8AFB-656C68FC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89245-934F-46E7-B870-2135512A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8BE"/>
                </a:solidFill>
              </a:defRPr>
            </a:pPr>
            <a:r>
              <a:rPr sz="975" b="0">
                <a:solidFill>
                  <a:srgbClr val="91A8B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375F1-1686-4B5D-ADEC-B8D281F6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AD61B-F227-420C-9C3F-B3B6F6B3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0C6"/>
                </a:solidFill>
              </a:defRPr>
            </a:pPr>
            <a:r>
              <a:rPr sz="2850" b="1">
                <a:solidFill>
                  <a:srgbClr val="00A0C6"/>
                </a:solidFill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3C341-CCFC-4C21-AF88-9C4D36C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0C6"/>
                </a:solidFill>
              </a:defRPr>
            </a:pPr>
            <a:r>
              <a:rPr sz="2850" b="1">
                <a:solidFill>
                  <a:srgbClr val="00A0C6"/>
                </a:solidFill>
              </a:rPr>
              <a:t>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28E33-8E3F-4EE5-A9B9-448BFC35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5433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2748"/>
          </a:solidFill>
          <a:ln xmlns:a="http://schemas.openxmlformats.org/drawingml/2006/main" w="9525">
            <a:solidFill>
              <a:srgbClr val="3151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9FAFC-F7A8-4C81-A7B4-DF14FB71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67C9"/>
                </a:solidFill>
              </a:defRPr>
            </a:pPr>
            <a:r>
              <a:rPr sz="1350" b="1">
                <a:solidFill>
                  <a:srgbClr val="0867C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A5307-4706-4055-962F-F36D1C8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9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دریافت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6AD94-F43D-451E-AC5F-0ABB414A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AA6CA-A9CF-4BD0-BE5D-9731A9F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پرسش، فایل یا تصویر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EB5DE-13C2-4057-B496-65A8D87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5433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2748"/>
          </a:solidFill>
          <a:ln xmlns:a="http://schemas.openxmlformats.org/drawingml/2006/main" w="9525">
            <a:solidFill>
              <a:srgbClr val="3151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47928-D0B9-4357-A4DC-DF2BDE17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0C6"/>
                </a:solidFill>
              </a:defRPr>
            </a:pPr>
            <a:r>
              <a:rPr sz="1350" b="1">
                <a:solidFill>
                  <a:srgbClr val="00A0C6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F6869-638B-4A54-9143-E20CA07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9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فهم و جست‌وجو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FBF88-C27F-4AE4-BA5F-A7935BEB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3855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D3617-7050-4B49-B5DB-92AE545D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3860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تشخیص هدف، دانش داخلی و منابع سایت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C714A-4EE9-4213-8DAA-94BC5F6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5433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2748"/>
          </a:solidFill>
          <a:ln xmlns:a="http://schemas.openxmlformats.org/drawingml/2006/main" w="9525">
            <a:solidFill>
              <a:srgbClr val="3151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BB5F0-85E7-49E2-9289-5BC521B2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B67"/>
                </a:solidFill>
              </a:defRPr>
            </a:pPr>
            <a:r>
              <a:rPr sz="1350" b="1">
                <a:solidFill>
                  <a:srgbClr val="1B8B6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2AF67-3296-4399-8089-1F0DAA85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9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پاسخ و اقدام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102AB-2BE8-4D24-93C8-A711B61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09416-382E-4605-BC3A-55BF0223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پاسخ تخصصی، پیشنهاد و ارجاع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E6544-70BD-4299-9804-5108DA05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دانش داخلی سریع‌تر پاسخ می‌دهد؛ منابع بیرونی فقط زمانی وارد می‌شوند که پرسش به تأیید تازه نیاز داشته باشد.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89254-8989-44E4-9F27-41D040C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91A8BE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91A8BE"/>
                </a:solidFill>
                <a:latin typeface="Tahoma"/>
                <a:ea typeface="Tahoma"/>
                <a:cs typeface="Tahoma"/>
              </a:rPr>
              <a:t xml:space="preserve">مسیر پاسخ بر اساس معماری فعلی بک‌اند</a:t>
            </a:r>
          </a:p>
        </p:txBody>
      </p:sp>
    </p:spTree>
    <p:extLst>
      <p:ext uri="{BB962C8B-B14F-4D97-AF65-F5344CB8AC3E}">
        <p14:creationId xmlns:p14="http://schemas.microsoft.com/office/powerpoint/2010/main" val="1545541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4DE70-24FA-4D11-B421-42A713A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معماری فنی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A51FB-F5F8-40AC-A545-781689A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معماری چندلایه، سرعت و دقت را حفظ می‌کند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70191-CEE3-4955-961E-66CF5AF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50C03-EA29-4B88-8DE2-3B25387B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7"/>
                </a:solidFill>
              </a:defRPr>
            </a:pPr>
            <a:r>
              <a:rPr sz="975" b="0">
                <a:solidFill>
                  <a:srgbClr val="60708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99A5D-ED37-494F-A833-7E8BD6A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0922F-36CA-49ED-B1FF-4466561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1898A-7BC0-422D-AA77-D158BD0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C9"/>
                </a:solidFill>
              </a:defRPr>
            </a:pPr>
            <a:r>
              <a:rPr sz="1050" b="1">
                <a:solidFill>
                  <a:srgbClr val="0867C9"/>
                </a:solidFill>
              </a:rPr>
              <a:t>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264B5-F349-40AC-BAB9-738A38ED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تجربه دوزبانه کاربر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E43D3-C3ED-444F-833C-6D2DA18D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38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rtl="1">
              <a:def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Next.js + React | چت، تحلیل فایل، محصولات و داشبورد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89459-56D1-4F43-BF5A-D5268AF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1277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C4A39-BDEF-42F9-8EA8-712234A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E8D3F-4613-4C07-9050-2DC7D574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0C6"/>
                </a:solidFill>
              </a:defRPr>
            </a:pPr>
            <a:r>
              <a:rPr sz="1050" b="1">
                <a:solidFill>
                  <a:srgbClr val="00A0C6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9D5C4-F359-4B78-B98B-224849A8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تشخیص هدف و بازیابی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40025-666F-4F44-9988-819E133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rtl="1">
              <a:def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جست‌وجوی محلی + جست‌وجوی برداری + منابع سایت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EC6A5-A5A8-4C2B-8643-A1EDD17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A12AC-677E-487E-B8D9-960C562A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A0519-C2F2-4438-877E-3C728E1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B33"/>
                </a:solidFill>
              </a:defRPr>
            </a:pPr>
            <a:r>
              <a:rPr sz="1050" b="1">
                <a:solidFill>
                  <a:srgbClr val="071B33"/>
                </a:solidFill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D6556-B26A-4F3E-8B53-37E04817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تولید پاسخ تخصصی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07A62-B9F3-4AFC-A4B4-DDE5E72B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rtl="1">
              <a:def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OpenAI Responses API + جست‌وجوی وب برای تأیید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8EA36-E002-42E3-9AB1-CFE41F2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1277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19E75-BEEF-44E4-A12D-3925F0E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412DD-CD3A-480E-B75D-395DCFBC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8B67"/>
                </a:solidFill>
              </a:defRPr>
            </a:pPr>
            <a:r>
              <a:rPr sz="1050" b="1">
                <a:solidFill>
                  <a:srgbClr val="1B8B67"/>
                </a:solidFill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B2FB8-2B8A-4D28-BDA4-2C52F7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دانش و داده عملیاتی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D6C35-514C-4407-977A-6C3A8F9C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rtl="1">
              <a:def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فایل‌های دانش + بردارها + SQLite + نشست‌ها و درخواست‌ها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E0BC2-DD34-4D2E-8D75-2B1D2CD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90A64-5A75-4FBE-A05D-8250A0DA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37FAD-7B96-4842-B769-6AD3E09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20D"/>
                </a:solidFill>
              </a:defRPr>
            </a:pPr>
            <a:r>
              <a:rPr sz="1050" b="1">
                <a:solidFill>
                  <a:srgbClr val="F4C20D"/>
                </a:solidFill>
              </a:rPr>
              <a:t>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7ABAE-9CCF-43FC-AAFC-E599347E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5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کنترل و دسترسی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6B4C3-3637-4A05-935A-4D6AC1F6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rtl="1">
              <a:def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ورود مدیر + هش رمز عبور + محدودسازی نرخ درخواست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42EAC-740B-40AB-AF0F-34A8C27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7"/>
                </a:solidFill>
              </a:defRPr>
            </a:pPr>
            <a:r>
              <a:rPr sz="900" b="0">
                <a:solidFill>
                  <a:srgbClr val="607087"/>
                </a:solidFill>
              </a:rPr>
              <a:t>FastAPI backend + Next.js frontend</a:t>
            </a:r>
          </a:p>
        </p:txBody>
      </p:sp>
    </p:spTree>
    <p:extLst>
      <p:ext uri="{BB962C8B-B14F-4D97-AF65-F5344CB8AC3E}">
        <p14:creationId xmlns:p14="http://schemas.microsoft.com/office/powerpoint/2010/main" val="906948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F0B10-608F-479E-9A03-07D45FFA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دانش و محصول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F85E3-4183-47F1-8FEA-AFD35FEE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دانش فنی به کاتالوگ و فروش متصل است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D2441-2161-47F2-84FF-E1BF3BE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E1665-B709-4A9A-A1C9-7033E5AC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7"/>
                </a:solidFill>
              </a:defRPr>
            </a:pPr>
            <a:r>
              <a:rPr sz="975" b="0">
                <a:solidFill>
                  <a:srgbClr val="60708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8CC18-572A-4CEB-B4BE-904A7A0C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886200" cy="4819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A5B5B-80EB-465B-A5D7-2CF31F6A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4C20D"/>
                </a:solidFill>
              </a:defRPr>
            </a:pPr>
            <a:r>
              <a:rPr sz="5850" b="1">
                <a:solidFill>
                  <a:srgbClr val="F4C20D"/>
                </a:solidFill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382F6-6B82-4DF9-8E6A-BEC082DB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0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محصول در کاتالوگ فعلی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5DB98-117D-44C2-9380-7CF6043B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00D86-3524-4A4A-BF45-F563B285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275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275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جست‌وجو و دسته‌بندی تجهیزات، مواد و کاتالیست‌ها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E4D5A-4DA9-4623-BD15-49E0A25F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BC34A-A8FB-46D0-BBF1-06E16BD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275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275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پیوند مستقیم به صفحه واقعی هر محصول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14A52-8C48-43EF-A1EA-32C095B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37C12-6ED7-432B-A010-B603D233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275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275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استعلام قیمت با محصول از پیش انتخاب‌شده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2d37f2c0e4b69"/>
          <a:srcRect xmlns:a="http://schemas.openxmlformats.org/drawingml/2006/main" l="8646" t="0" r="8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1466850"/>
            <a:ext cx="7086600" cy="4819650"/>
          </a:xfrm>
          <a:prstGeom xmlns:a="http://schemas.openxmlformats.org/drawingml/2006/main" prst="roundRect">
            <a:avLst>
              <a:gd name="adj" fmla="val 316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B90EC-040E-4282-B969-7AAB242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کاتالوگ نسخه محلی: ۷۲ محصول</a:t>
            </a:r>
          </a:p>
        </p:txBody>
      </p:sp>
    </p:spTree>
    <p:extLst>
      <p:ext uri="{BB962C8B-B14F-4D97-AF65-F5344CB8AC3E}">
        <p14:creationId xmlns:p14="http://schemas.microsoft.com/office/powerpoint/2010/main" val="225331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26CF3-BD82-4D74-A0C8-BE421A11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867C9"/>
                </a:solidFill>
                <a:latin typeface="Tahoma"/>
                <a:ea typeface="Tahoma"/>
                <a:cs typeface="Tahoma"/>
              </a:rPr>
              <a:t xml:space="preserve">گستره محصول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4DFF6-DB4B-4F1C-8193-641E4D7A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یک محصول، چند نقش و چند سکوی ارائه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02A46-282A-4F64-967A-B299127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92469-B74C-4E86-B27A-FB5E4DA6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7"/>
                </a:solidFill>
              </a:defRPr>
            </a:pPr>
            <a:r>
              <a:rPr sz="975" b="0">
                <a:solidFill>
                  <a:srgbClr val="60708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53D07-15AF-44AA-AE96-9DED8D6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714750" cy="48196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6230d0d904a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828800"/>
            <a:ext cx="2800350" cy="2800350"/>
          </a:xfrm>
          <a:prstGeom xmlns:a="http://schemas.openxmlformats.org/drawingml/2006/main" prst="roundRect">
            <a:avLst>
              <a:gd name="adj" fmla="val 544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89311-3C52-4FB8-A585-23ADE6F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C9"/>
                </a:solidFill>
              </a:defRPr>
            </a:pPr>
            <a:r>
              <a:rPr sz="1350" b="1">
                <a:solidFill>
                  <a:srgbClr val="0867C9"/>
                </a:solidFill>
              </a:rPr>
              <a:t>Web • PWA • Android • 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B2D46-CDB0-4A9A-8CFE-807F11ED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 rtl="1">
              <a:def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فارسی و انگلیسی با یک هویت مشترک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B9C09-EE0F-4C61-9A0A-66A32695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67C9"/>
                </a:solidFill>
              </a:defRPr>
            </a:pPr>
            <a:r>
              <a:rPr sz="1200" b="1">
                <a:solidFill>
                  <a:srgbClr val="0867C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D0BE1-2A50-4F87-9A13-4C0CB5AD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مشتری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98E9F-10EA-44F3-A1B3-2F0BBD9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71700"/>
            <a:ext cx="603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گفت‌وگو، تحلیل فایل، محصولات، پروفایل و پیگیری درخواست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ECE09-6658-4E3E-989B-ECCB1DC5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680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12986-189E-421B-BA00-FDF76F7F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0C6"/>
                </a:solidFill>
              </a:defRPr>
            </a:pPr>
            <a:r>
              <a:rPr sz="1200" b="1">
                <a:solidFill>
                  <a:srgbClr val="00A0C6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06BF-08B9-470C-AA5B-2E188CEE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کارشناس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0F3E8-6E18-4C69-814C-328E6F4C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603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پاسخ تخصصی، منابع، تاریخچه و تبدیل گفت‌وگو به اقدام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1E202-5D5E-4592-8C8E-24928DA4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680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C14B7-D22B-48CC-A618-76E732C3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339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8B67"/>
                </a:solidFill>
              </a:defRPr>
            </a:pPr>
            <a:r>
              <a:rPr sz="1200" b="1">
                <a:solidFill>
                  <a:srgbClr val="1B8B67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8DC92-9DF8-4C7A-9E10-302BB11A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14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defRPr>
            </a:pPr>
            <a:r>
              <a:rPr sz="1875" b="1" lang="fa-IR" altLang="en-US">
                <a:solidFill>
                  <a:srgbClr val="101C2F"/>
                </a:solidFill>
                <a:latin typeface="Tahoma"/>
                <a:ea typeface="Tahoma"/>
                <a:cs typeface="Tahoma"/>
              </a:rPr>
              <a:t xml:space="preserve">مدیر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47A6F-85DD-432A-A27D-907F90E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29200"/>
            <a:ext cx="603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مدیریت دانش، سؤال‌ها، مشتریان، درخواست‌ها و تنظیمات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13758-BFE6-476D-9C1F-7E7ECC3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607087"/>
                </a:solidFill>
                <a:latin typeface="Tahoma"/>
                <a:ea typeface="Tahoma"/>
                <a:cs typeface="Tahoma"/>
              </a:rPr>
              <a:t xml:space="preserve">سطوح محصول بر اساس مسیرهای فعلی اپ</a:t>
            </a:r>
          </a:p>
        </p:txBody>
      </p:sp>
    </p:spTree>
    <p:extLst>
      <p:ext uri="{BB962C8B-B14F-4D97-AF65-F5344CB8AC3E}">
        <p14:creationId xmlns:p14="http://schemas.microsoft.com/office/powerpoint/2010/main" val="2099426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3488D-E83C-4661-A620-198E876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1200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defRPr>
            </a:pPr>
            <a:r>
              <a:rPr sz="1200" b="1" lang="fa-IR" altLang="en-US">
                <a:solidFill>
                  <a:srgbClr val="00A0C6"/>
                </a:solidFill>
                <a:latin typeface="Tahoma"/>
                <a:ea typeface="Tahoma"/>
                <a:cs typeface="Tahoma"/>
              </a:rPr>
              <a:t xml:space="preserve">دامنه فعلی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8490D-ED8B-4061-BE31-8253F129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28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دامنه فعلی برای اجرای آزمایشی آماده است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5871F-5B6F-41E3-8264-DBEDC29B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A717-1DC6-4D56-B7FF-C0648F91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8BE"/>
                </a:solidFill>
              </a:defRPr>
            </a:pPr>
            <a:r>
              <a:rPr sz="975" b="0">
                <a:solidFill>
                  <a:srgbClr val="91A8B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C1858-1A6F-4A4D-BC19-30AFEF0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اعداد زیر، محدوده پیاده‌سازی‌شده در نسخه فعلی اپ و مخزن پروژه را نشان می‌دهند.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278C9-D9D7-400F-9B9A-AEF19D8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4C20D"/>
                </a:solidFill>
              </a:defRPr>
            </a:pPr>
            <a:r>
              <a:rPr sz="5400" b="1">
                <a:solidFill>
                  <a:srgbClr val="F4C20D"/>
                </a:solidFill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06619-AA8E-44D3-83BD-2BB59A4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 rtl="1">
              <a:def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محصول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EBBBA-C77C-49BB-9372-FA6A1DB2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کاتالوگ قابل جست‌وجو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F2D8D-EF4A-4E82-886C-EF259976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479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390A0-CE13-4B2A-92E9-655E550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B8B67"/>
                </a:solidFill>
              </a:defRPr>
            </a:pPr>
            <a:r>
              <a:rPr sz="5400" b="1">
                <a:solidFill>
                  <a:srgbClr val="1B8B67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FA599-0EA7-4553-9038-A506A09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 rtl="1">
              <a:def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فرمت فایل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A1585-6657-4FBE-926E-BF339108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9CCE0"/>
                </a:solidFill>
              </a:defRPr>
            </a:pPr>
            <a:r>
              <a:rPr sz="1200" b="0">
                <a:solidFill>
                  <a:srgbClr val="B9CCE0"/>
                </a:solidFill>
              </a:rPr>
              <a:t>Excel • CSV • PDF • JPG • 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E426C-6C2D-4976-AB79-A8B484A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479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8EE87-125E-4C80-BB9F-6FF5669D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A0C6"/>
                </a:solidFill>
              </a:defRPr>
            </a:pPr>
            <a:r>
              <a:rPr sz="5400" b="1">
                <a:solidFill>
                  <a:srgbClr val="00A0C6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B599F-4A08-4804-9C5F-D97F301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 rtl="1">
              <a:def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سکوی ارائه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87A4A-F18B-4492-9025-333CDCD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9CCE0"/>
                </a:solidFill>
              </a:defRPr>
            </a:pPr>
            <a:r>
              <a:rPr sz="1200" b="0">
                <a:solidFill>
                  <a:srgbClr val="B9CCE0"/>
                </a:solidFill>
              </a:rPr>
              <a:t>Web • PWA • Android • Desktop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E4B83-B870-47DC-8E7F-3581923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A2933-22B9-4204-8E44-DE93CBF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867C9"/>
                </a:solidFill>
              </a:defRPr>
            </a:pPr>
            <a:r>
              <a:rPr sz="5400" b="1">
                <a:solidFill>
                  <a:srgbClr val="0867C9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D0233-76EC-4664-B261-9D71EBB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 rtl="1">
              <a:def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زبان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15A4C-840C-4CA6-AE8C-78742313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defRPr>
            </a:pPr>
            <a:r>
              <a:rPr sz="1200" b="0" lang="fa-IR" altLang="en-US">
                <a:solidFill>
                  <a:srgbClr val="B9CCE0"/>
                </a:solidFill>
                <a:latin typeface="Tahoma"/>
                <a:ea typeface="Tahoma"/>
                <a:cs typeface="Tahoma"/>
              </a:rPr>
              <a:t xml:space="preserve">فارسی و انگلیسی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68A98-D66A-49FF-A08F-68111215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6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868F5-8DE4-4E9D-87B0-D9ECC842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rtl="1">
              <a:defRPr sz="14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شروع پیشنهادی: پرسش‌های واقعی، اسناد منتخب و یک مسیر مشخص برای درخواست مشتری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74A0F-D427-4A33-936F-43EADB43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 rtl="1">
              <a:defRPr sz="900" b="0" lang="fa-IR" altLang="en-US">
                <a:solidFill>
                  <a:srgbClr val="91A8BE"/>
                </a:solidFill>
                <a:latin typeface="Tahoma"/>
                <a:ea typeface="Tahoma"/>
                <a:cs typeface="Tahoma"/>
              </a:defRPr>
            </a:pPr>
            <a:r>
              <a:rPr sz="900" b="0" lang="fa-IR" altLang="en-US">
                <a:solidFill>
                  <a:srgbClr val="91A8BE"/>
                </a:solidFill>
                <a:latin typeface="Tahoma"/>
                <a:ea typeface="Tahoma"/>
                <a:cs typeface="Tahoma"/>
              </a:rPr>
              <a:t xml:space="preserve">مبنای شمارش: نسخه فعلی اپ و مخزن پروژه</a:t>
            </a:r>
          </a:p>
        </p:txBody>
      </p:sp>
    </p:spTree>
    <p:extLst>
      <p:ext uri="{BB962C8B-B14F-4D97-AF65-F5344CB8AC3E}">
        <p14:creationId xmlns:p14="http://schemas.microsoft.com/office/powerpoint/2010/main" val="232975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201B7-16B1-4200-8DF4-0759798F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04b3469724f13"/>
          <a:srcRect xmlns:a="http://schemas.openxmlformats.org/drawingml/2006/main" l="18472" t="0" r="18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E5F2C-2A41-4B53-A396-CD0EBB81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0C6"/>
                </a:solidFill>
              </a:defRPr>
            </a:pPr>
            <a:r>
              <a:rPr sz="1200" b="1">
                <a:solidFill>
                  <a:srgbClr val="00A0C6"/>
                </a:solidFill>
              </a:rPr>
              <a:t>ARTINAZMA EXPERT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7F582-C28B-420B-9558-A9280F9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666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34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450" b="1" lang="fa-IR" altLang="en-US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دانش فنی را به تجربه‌ای قابل اقدام تبدیل کنید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1A148-B558-4B76-9494-099B20B0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 rtl="1">
              <a:def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defRPr>
            </a:pPr>
            <a:r>
              <a:rPr sz="1650" b="1" lang="fa-IR" altLang="en-US">
                <a:solidFill>
                  <a:srgbClr val="F4C20D"/>
                </a:solidFill>
                <a:latin typeface="Tahoma"/>
                <a:ea typeface="Tahoma"/>
                <a:cs typeface="Tahoma"/>
              </a:rPr>
              <a:t xml:space="preserve">سه گام برای اجرای آزمایشی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5FD42-5A44-4ADD-A052-DF4252B1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0C6"/>
                </a:solidFill>
              </a:defRPr>
            </a:pPr>
            <a:r>
              <a:rPr sz="1350" b="1">
                <a:solidFill>
                  <a:srgbClr val="00A0C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43A5E-D02C-4D28-9B6C-7FF3C059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انتخاب ۲۰ تا ۳۰ پرسش واقعی از مشتریان و کارشناسان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0ADA4-B586-44D0-B959-3C78001C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0C6"/>
                </a:solidFill>
              </a:defRPr>
            </a:pPr>
            <a:r>
              <a:rPr sz="1350" b="1">
                <a:solidFill>
                  <a:srgbClr val="00A0C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ABFF2-41AE-4DC0-8754-B3A48FA8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بارگذاری اسناد و کاتالوگ‌های منتخب با مالک مشخص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58C81-12C6-476F-ABFC-6B64288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0C6"/>
                </a:solidFill>
              </a:defRPr>
            </a:pPr>
            <a:r>
              <a:rPr sz="1350" b="1">
                <a:solidFill>
                  <a:srgbClr val="00A0C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9C5DA-313A-4536-963B-F93D2A73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 rtl="1">
              <a:def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defRPr>
            </a:pPr>
            <a:r>
              <a:rPr sz="1350" b="0" lang="fa-IR" altLang="en-US">
                <a:solidFill>
                  <a:srgbClr val="D3E0EC"/>
                </a:solidFill>
                <a:latin typeface="Tahoma"/>
                <a:ea typeface="Tahoma"/>
                <a:cs typeface="Tahoma"/>
              </a:rPr>
              <a:t xml:space="preserve">سنجش کیفیت پاسخ و اتصال به جریان درخواست و فروش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6554B-4471-4270-AA31-92B0137D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20D"/>
                </a:solidFill>
              </a:defRPr>
            </a:pPr>
            <a:r>
              <a:rPr sz="1125" b="1">
                <a:solidFill>
                  <a:srgbClr val="F4C20D"/>
                </a:solidFill>
              </a:rPr>
              <a:t>assistant.artinazma.net</a:t>
            </a:r>
          </a:p>
        </p:txBody>
      </p:sp>
    </p:spTree>
    <p:extLst>
      <p:ext uri="{BB962C8B-B14F-4D97-AF65-F5344CB8AC3E}">
        <p14:creationId xmlns:p14="http://schemas.microsoft.com/office/powerpoint/2010/main" val="1460569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2026-07-11T04:24:10.3540000Z</dcterms:created>
  <dcterms:modified xsi:type="dcterms:W3CDTF">2026-07-11T04:24:10.3540000Z</dcterms:modified>
</coreProperties>
</file>