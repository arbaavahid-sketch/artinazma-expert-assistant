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8cf032484a495a" /><Relationship Type="http://schemas.openxmlformats.org/officeDocument/2006/relationships/extended-properties" Target="/docProps/app.xml" Id="R9c732eccc6734e90" /><Relationship Type="http://schemas.openxmlformats.org/officeDocument/2006/relationships/officeDocument" Target="/ppt/presentation.xml" Id="R03df491e6640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566f7cf1074746"/>
  </p:sldMasterIdLst>
  <p:notesMasterIdLst>
    <p:notesMasterId xmlns:r="http://schemas.openxmlformats.org/officeDocument/2006/relationships" r:id="Rd4c32fdc9c9047c0"/>
  </p:notesMasterIdLst>
  <p:sldIdLst>
    <p:sldId xmlns:r="http://schemas.openxmlformats.org/officeDocument/2006/relationships" id="256" r:id="R21dbd0a8ee4c4f94"/>
    <p:sldId xmlns:r="http://schemas.openxmlformats.org/officeDocument/2006/relationships" id="257" r:id="Ra23536ab0f374828"/>
    <p:sldId xmlns:r="http://schemas.openxmlformats.org/officeDocument/2006/relationships" id="258" r:id="R19831e92b3104a7b"/>
    <p:sldId xmlns:r="http://schemas.openxmlformats.org/officeDocument/2006/relationships" id="259" r:id="Rc74b64d364044474"/>
    <p:sldId xmlns:r="http://schemas.openxmlformats.org/officeDocument/2006/relationships" id="260" r:id="R6b7d67a25d674458"/>
    <p:sldId xmlns:r="http://schemas.openxmlformats.org/officeDocument/2006/relationships" id="261" r:id="R63ce26a8cdab4899"/>
    <p:sldId xmlns:r="http://schemas.openxmlformats.org/officeDocument/2006/relationships" id="262" r:id="R739c35ff1f5a4120"/>
    <p:sldId xmlns:r="http://schemas.openxmlformats.org/officeDocument/2006/relationships" id="263" r:id="R5b625ec54e9e41ad"/>
    <p:sldId xmlns:r="http://schemas.openxmlformats.org/officeDocument/2006/relationships" id="264" r:id="R17efb00bf19342f0"/>
    <p:sldId xmlns:r="http://schemas.openxmlformats.org/officeDocument/2006/relationships" id="265" r:id="R0b5cdcbe44434f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c84847b4c4af9" /><Relationship Type="http://schemas.openxmlformats.org/officeDocument/2006/relationships/slideMaster" Target="/ppt/slideMasters/slideMaster1.xml" Id="R6e566f7cf1074746" /><Relationship Type="http://schemas.openxmlformats.org/officeDocument/2006/relationships/notesMaster" Target="/ppt/notesMasters/notesMaster1.xml" Id="Rd4c32fdc9c9047c0" /><Relationship Type="http://schemas.openxmlformats.org/officeDocument/2006/relationships/presProps" Target="/ppt/presProps.xml" Id="R7fad987bb7b44b8b" /><Relationship Type="http://schemas.openxmlformats.org/officeDocument/2006/relationships/tableStyles" Target="/ppt/tableStyles.xml" Id="R610d4fe115ae421b" /><Relationship Type="http://schemas.openxmlformats.org/officeDocument/2006/relationships/slide" Target="/ppt/slides/slide1.xml" Id="R21dbd0a8ee4c4f94" /><Relationship Type="http://schemas.openxmlformats.org/officeDocument/2006/relationships/slide" Target="/ppt/slides/slide2.xml" Id="Ra23536ab0f374828" /><Relationship Type="http://schemas.openxmlformats.org/officeDocument/2006/relationships/slide" Target="/ppt/slides/slide3.xml" Id="R19831e92b3104a7b" /><Relationship Type="http://schemas.openxmlformats.org/officeDocument/2006/relationships/slide" Target="/ppt/slides/slide4.xml" Id="Rc74b64d364044474" /><Relationship Type="http://schemas.openxmlformats.org/officeDocument/2006/relationships/slide" Target="/ppt/slides/slide5.xml" Id="R6b7d67a25d674458" /><Relationship Type="http://schemas.openxmlformats.org/officeDocument/2006/relationships/slide" Target="/ppt/slides/slide6.xml" Id="R63ce26a8cdab4899" /><Relationship Type="http://schemas.openxmlformats.org/officeDocument/2006/relationships/slide" Target="/ppt/slides/slide7.xml" Id="R739c35ff1f5a4120" /><Relationship Type="http://schemas.openxmlformats.org/officeDocument/2006/relationships/slide" Target="/ppt/slides/slide8.xml" Id="R5b625ec54e9e41ad" /><Relationship Type="http://schemas.openxmlformats.org/officeDocument/2006/relationships/slide" Target="/ppt/slides/slide9.xml" Id="R17efb00bf19342f0" /><Relationship Type="http://schemas.openxmlformats.org/officeDocument/2006/relationships/slide" Target="/ppt/slides/slide10.xml" Id="R0b5cdcbe4443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2fa79bde94c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2943f3bb9492c" /><Relationship Type="http://schemas.openxmlformats.org/officeDocument/2006/relationships/notesMaster" Target="/ppt/notesMasters/notesMaster1.xml" Id="R6eb2a590b5f646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2a1e437354b36" /><Relationship Type="http://schemas.openxmlformats.org/officeDocument/2006/relationships/notesMaster" Target="/ppt/notesMasters/notesMaster1.xml" Id="R02fb9c0beded48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2d0775bca64a56" /><Relationship Type="http://schemas.openxmlformats.org/officeDocument/2006/relationships/notesMaster" Target="/ppt/notesMasters/notesMaster1.xml" Id="Rae2b2b59957548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4d972c728447d" /><Relationship Type="http://schemas.openxmlformats.org/officeDocument/2006/relationships/notesMaster" Target="/ppt/notesMasters/notesMaster1.xml" Id="R9e1f2fbe771d40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2bdb9e0eb84e58" /><Relationship Type="http://schemas.openxmlformats.org/officeDocument/2006/relationships/notesMaster" Target="/ppt/notesMasters/notesMaster1.xml" Id="R7775bb8a3b9d4b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d678ea1374426" /><Relationship Type="http://schemas.openxmlformats.org/officeDocument/2006/relationships/notesMaster" Target="/ppt/notesMasters/notesMaster1.xml" Id="R5d517c71c9d64e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4b280b83ad44b1" /><Relationship Type="http://schemas.openxmlformats.org/officeDocument/2006/relationships/notesMaster" Target="/ppt/notesMasters/notesMaster1.xml" Id="R0293d9305de5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ed2865cdc947e5" /><Relationship Type="http://schemas.openxmlformats.org/officeDocument/2006/relationships/notesMaster" Target="/ppt/notesMasters/notesMaster1.xml" Id="Rc22301c65bb042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fcd4491b14736" /><Relationship Type="http://schemas.openxmlformats.org/officeDocument/2006/relationships/notesMaster" Target="/ppt/notesMasters/notesMaster1.xml" Id="R2067bbbe43f743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d7189bc9734636" /><Relationship Type="http://schemas.openxmlformats.org/officeDocument/2006/relationships/notesMaster" Target="/ppt/notesMasters/notesMaster1.xml" Id="R1ddaa52b65e1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3b78d7a1c49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de89375b94b0a" /><Relationship Type="http://schemas.openxmlformats.org/officeDocument/2006/relationships/slideLayout" Target="/ppt/slideLayouts/slideLayout1.xml" Id="R10620c2ef2db46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620c2ef2db46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ca9e467234a0a" /><Relationship Type="http://schemas.openxmlformats.org/officeDocument/2006/relationships/image" Target="/ppt/media/image.jpeg" Id="R14344bb2cc4b48c9" /><Relationship Type="http://schemas.openxmlformats.org/officeDocument/2006/relationships/image" Target="/ppt/media/image.png" Id="R26da03371cd24733" /><Relationship Type="http://schemas.openxmlformats.org/officeDocument/2006/relationships/notesSlide" Target="/ppt/notesSlides/notesSlide1.xml" Id="R689b42a4ec21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46fa85b2e4b31" /><Relationship Type="http://schemas.openxmlformats.org/officeDocument/2006/relationships/image" Target="/ppt/media/image2.jpeg" Id="R4dcfb824a7eb4c15" /><Relationship Type="http://schemas.openxmlformats.org/officeDocument/2006/relationships/image" Target="/ppt/media/image3.jpeg" Id="R01ba0f130ae849c9" /><Relationship Type="http://schemas.openxmlformats.org/officeDocument/2006/relationships/image" Target="/ppt/media/image4.jpeg" Id="Rd302733225e1430a" /><Relationship Type="http://schemas.openxmlformats.org/officeDocument/2006/relationships/image" Target="/ppt/media/image5.jpeg" Id="R12492d1e48e749c0" /><Relationship Type="http://schemas.openxmlformats.org/officeDocument/2006/relationships/notesSlide" Target="/ppt/notesSlides/notesSlide2.xml" Id="R0f6a5cf22f2f46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96b79ce3140fa" /><Relationship Type="http://schemas.openxmlformats.org/officeDocument/2006/relationships/notesSlide" Target="/ppt/notesSlides/notesSlide3.xml" Id="R17194a39f0f0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713a03b444865" /><Relationship Type="http://schemas.openxmlformats.org/officeDocument/2006/relationships/image" Target="/ppt/media/image6.jpeg" Id="Reace207bb58e43f9" /><Relationship Type="http://schemas.openxmlformats.org/officeDocument/2006/relationships/notesSlide" Target="/ppt/notesSlides/notesSlide4.xml" Id="R4a5285c9cb9744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2303b8a954220" /><Relationship Type="http://schemas.openxmlformats.org/officeDocument/2006/relationships/notesSlide" Target="/ppt/notesSlides/notesSlide5.xml" Id="Rd611831a58004a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13a93232d4d9e" /><Relationship Type="http://schemas.openxmlformats.org/officeDocument/2006/relationships/notesSlide" Target="/ppt/notesSlides/notesSlide6.xml" Id="R6d308c456b6b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ed272b62148d6" /><Relationship Type="http://schemas.openxmlformats.org/officeDocument/2006/relationships/image" Target="/ppt/media/image7.jpeg" Id="Rf876607f891349a7" /><Relationship Type="http://schemas.openxmlformats.org/officeDocument/2006/relationships/notesSlide" Target="/ppt/notesSlides/notesSlide7.xml" Id="R02131e470d0c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9288af3474bf9" /><Relationship Type="http://schemas.openxmlformats.org/officeDocument/2006/relationships/image" Target="/ppt/media/image2.png" Id="Rb4ea74a0897643e1" /><Relationship Type="http://schemas.openxmlformats.org/officeDocument/2006/relationships/notesSlide" Target="/ppt/notesSlides/notesSlide8.xml" Id="R9ca3c8493ed245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48c8ccbc14a0c" /><Relationship Type="http://schemas.openxmlformats.org/officeDocument/2006/relationships/notesSlide" Target="/ppt/notesSlides/notesSlide9.xml" Id="R04d8bddb03d840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606d01a8146e6" /><Relationship Type="http://schemas.openxmlformats.org/officeDocument/2006/relationships/image" Target="/ppt/media/image3.png" Id="Rd717d047831045d0" /><Relationship Type="http://schemas.openxmlformats.org/officeDocument/2006/relationships/notesSlide" Target="/ppt/notesSlides/notesSlide10.xml" Id="R293ec8f364bb4d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57A68-B84D-4DB8-A853-CB882ED2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44bb2cc4b48c9"/>
          <a:srcRect xmlns:a="http://schemas.openxmlformats.org/drawingml/2006/main" l="28339" t="0" r="283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361950"/>
            <a:ext cx="4724400" cy="61341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a03371cd24733"/>
          <a:stretch xmlns:a="http://schemas.openxmlformats.org/drawingml/2006/main"/>
        </p:blipFill>
        <p:spPr>
          <a:xfrm xmlns:a="http://schemas.openxmlformats.org/drawingml/2006/main">
            <a:off x="400050" y="365784"/>
            <a:ext cx="2381250" cy="86863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D2970-28A4-467A-BA2D-3E04D06E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ARTINAZMA EXPERT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65CC2-CD98-4E94-BD7B-98471C77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905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تخصصی دستیار</a:t>
            </a:r>
          </a:p>
          <a:p xmlns:a="http://schemas.openxmlformats.org/drawingml/2006/main">
            <a:pPr algn="r"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آزما آرتین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084C8-B00C-472C-B2F4-0D48ADCA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E6A7D"/>
                </a:solidFill>
              </a:defRPr>
            </a:pPr>
            <a:r>
              <a:rPr sz="1800" b="0">
                <a:solidFill>
                  <a:srgbClr val="5E6A7D"/>
                </a:solidFill>
              </a:rPr>
              <a:t>پلتفرم یک در مشتری تجربه و آزمایشگاهی تحلیل فنی، دانش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4D96C-A09A-46EA-AB6F-1891B72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3848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830AE-67AA-4B0D-BB0D-0DAC4B5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آزمایشگاه • پتروشیمی • گاز • نفت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E6603-8338-4439-A021-6363F5B6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۲۰۲۶ | محصول معرفی</a:t>
            </a:r>
          </a:p>
        </p:txBody>
      </p:sp>
    </p:spTree>
    <p:extLst>
      <p:ext uri="{BB962C8B-B14F-4D97-AF65-F5344CB8AC3E}">
        <p14:creationId xmlns:p14="http://schemas.microsoft.com/office/powerpoint/2010/main" val="1679125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92F5E-268E-43B5-B2B9-83EEEF7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مسئله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AB2AB-3818-4FE8-9471-917DCFF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پراکنده‌اند منبع چند بین امروز فنی تصمیم‌های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3B7C0-1A78-4E80-B1CA-FFDD1C3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6046D-AC0A-4D13-9E5D-AA74C97F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1571A-E02F-4311-952B-D4219D4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45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بگیرند. قرار هم کنار شواهد نوع چند باید نیست؛ جستجو یک فقط دقیق پاسخ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F1C36-062E-4B8C-B998-4D890DB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A20EA-2EEB-4D20-A553-70A92F90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آزمون روش‌های و استانداردها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A1766-DD3D-433C-8731-8403AB2F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کیفیت کنترل و نمونه آماده‌سازی ASTM،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33F7-AE6C-4899-B933-8143E168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6FBD7-0330-4084-B73B-F83F6DBE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مصرفی و دستگاه مشخصات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3DD38-7D5E-4390-B10B-4EA5B209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عیب‌یابی و کالیبراسیون محدوده، مدل،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C21F4-AB39-4079-9D8C-0C4A5D20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6B82C-36E5-42D8-9F52-16452838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آزمایشگاه داده و گزارش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CB9A1-49B9-4301-AB57-7886FA3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QC و کروماتوگرام نمودار، جدول، PDF،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560DF-4992-4F52-8837-9F28E02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FDE7A-87B7-4113-8324-34C2E68E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01827"/>
                </a:solidFill>
              </a:defRPr>
            </a:pPr>
            <a:r>
              <a:rPr sz="1500" b="1">
                <a:solidFill>
                  <a:srgbClr val="101827"/>
                </a:solidFill>
              </a:rPr>
              <a:t>مشتری نیاز و کارشناس تجربه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206C7A-A594-471E-9A6C-1DA2399B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برسد پیگیری قابل اقدام به باید فنی تصمیم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fb824a7eb4c15"/>
          <a:stretch xmlns:a="http://schemas.openxmlformats.org/drawingml/2006/main"/>
        </p:blipFill>
        <p:spPr>
          <a:xfrm xmlns:a="http://schemas.openxmlformats.org/drawingml/2006/main">
            <a:off x="5785999" y="1562100"/>
            <a:ext cx="2124951" cy="21717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a0f130ae849c9"/>
          <a:srcRect xmlns:a="http://schemas.openxmlformats.org/drawingml/2006/main" l="0" t="2297" r="0" b="22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29650" y="1562100"/>
            <a:ext cx="3162300" cy="21717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2733225e1430a"/>
          <a:stretch xmlns:a="http://schemas.openxmlformats.org/drawingml/2006/main"/>
        </p:blipFill>
        <p:spPr>
          <a:xfrm xmlns:a="http://schemas.openxmlformats.org/drawingml/2006/main">
            <a:off x="5334000" y="4091088"/>
            <a:ext cx="3028950" cy="1895274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92d1e48e749c0"/>
          <a:stretch xmlns:a="http://schemas.openxmlformats.org/drawingml/2006/main"/>
        </p:blipFill>
        <p:spPr>
          <a:xfrm xmlns:a="http://schemas.openxmlformats.org/drawingml/2006/main">
            <a:off x="8629650" y="4064737"/>
            <a:ext cx="3162300" cy="1947977"/>
          </a:xfrm>
          <a:prstGeom xmlns:a="http://schemas.openxmlformats.org/drawingml/2006/main" prst="roundRect">
            <a:avLst>
              <a:gd name="adj" fmla="val 550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0227A-E809-4C5B-B963-983310E2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00725"/>
            <a:ext cx="6457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DD9B8-9AD3-43D3-87CE-DA63684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6740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می‌کند. تبدیل پیگیری قابل گفتگوی یک به را زنجیره این آرتین</a:t>
            </a:r>
          </a:p>
        </p:txBody>
      </p:sp>
    </p:spTree>
    <p:extLst>
      <p:ext uri="{BB962C8B-B14F-4D97-AF65-F5344CB8AC3E}">
        <p14:creationId xmlns:p14="http://schemas.microsoft.com/office/powerpoint/2010/main" val="1432291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36F5BE-BDA5-47B8-9E37-C4C6C6D2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راهکار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BF52E-36B6-4A15-8ABA-135818C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می‌کند جمع نقطه یک در را روزمره کار چهار آرتین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FCB28-23A8-4042-991F-D0F4C097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AA3FF-F356-4CB6-8DF8-ABF0D532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5E17D-AC4E-4AB6-8506-A142023C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505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36300-CAFF-49BD-8691-B766B045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50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444E8-3B1D-459C-8AF8-5F823C4C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66C3"/>
                </a:solidFill>
              </a:defRPr>
            </a:pPr>
            <a:r>
              <a:rPr sz="1650" b="1">
                <a:solidFill>
                  <a:srgbClr val="0B66C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C6105-9869-4DF7-AA57-B21E829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تخصصی فنی پاسخ‌گویی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71232-898B-4769-B778-95804BDB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93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آزمون روش و کاتالیست شیمیایی، مواد دستگاهی، آنالیز تجهیزات، درباره پرسش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C613C-4A72-4FE5-A586-D3133AF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505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5EDD7-3775-46D2-A94F-80D659B1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50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532FF-F2EA-4A14-9E55-AA246E46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8A62"/>
                </a:solidFill>
              </a:defRPr>
            </a:pPr>
            <a:r>
              <a:rPr sz="1650" b="1">
                <a:solidFill>
                  <a:srgbClr val="138A6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77BB5-4CA0-4FBD-B30F-FF32CEC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گزارش و فایل تحلیل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85B33-CC11-452E-B150-B355F04A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93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QC داده‌های و کروماتوگرام نمودار، تصویر، PDF، CSV، Excel، بررسی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2AB8F-6A01-48C5-9391-F6F0D6C1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505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8ED26-0938-4C02-8DB6-09805E44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50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C1B28-1A45-4ED6-9401-B9D9F48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78681-6010-45AD-9926-7D03A7D1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روش و دستگاه پیشنهاد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5A564-AF05-4521-AA1C-AAD9494E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3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کیفیت کنترل و نمونه آماده‌سازی اندازه‌گیری، محدوده تجهیز، انتخاب برای راهنمایی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763BA6-27BC-4643-AE37-6ADA0A26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50545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1C29B-D1C5-4243-961D-B2FE6FBF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50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332B3-4190-40CE-8C2B-09F79D0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00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96C9"/>
                </a:solidFill>
              </a:defRPr>
            </a:pPr>
            <a:r>
              <a:rPr sz="1650" b="1">
                <a:solidFill>
                  <a:srgbClr val="0796C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A64004-5FBA-4C6E-BB9B-77821B64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52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تجهیزات عیب‌یابی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8EE54-A012-4904-B096-E6602329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933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دستگاه شرایط و مصرفی‌ها کالیبراسیون، baseline، نوسان خطا، تحلیل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ACB44-CC1C-4EBE-A3F6-21CFF82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اپ فعلی نسخه در پیاده‌سازی‌شده قابلیت‌های منبع:</a:t>
            </a:r>
          </a:p>
        </p:txBody>
      </p:sp>
    </p:spTree>
    <p:extLst>
      <p:ext uri="{BB962C8B-B14F-4D97-AF65-F5344CB8AC3E}">
        <p14:creationId xmlns:p14="http://schemas.microsoft.com/office/powerpoint/2010/main" val="1686574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DA71C-C643-492B-8AC5-48841F6B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کاربر تجربه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BBB00-AAB8-45F9-8C8D-D948EF5C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می‌کند پیدا ادامه پیگیری تا سؤال از کاربر تجربه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DE20F-7C57-48D5-9D0D-6367153A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DB16B-BB08-4C74-88EA-614ED494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e207bb58e43f9"/>
          <a:srcRect xmlns:a="http://schemas.openxmlformats.org/drawingml/2006/main" l="12122" t="0" r="12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504950"/>
            <a:ext cx="6362700" cy="47244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5AED7-4B5D-45E0-B565-289E79CF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2AB7D-5140-48D6-BA50-F7402B7F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8FC3E-6A03-4719-BA8D-CE533E17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پروفایل و امن ورود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6B6CB-BAEA-4002-9D38-98A1CD24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ورود اطلاعات از حفاظت و کاربری نشست مشتری، حساب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54518-FBBD-4765-B22F-547ED398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26D91-2AF5-4689-8388-92672DB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B6D23-0EDF-4AE0-9352-721B56F1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ماندگار گفتگوی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B494A-27D2-4016-B9F1-5C751B91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کاربر حافظه از استفاده و گفتگو ادامه سابقه، مشاهده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F4FB7-A3E3-4FC6-9D53-C1782704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6CB7E-E5BE-42F5-A831-FA728CB7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9583C-0FE2-4333-957E-FFEADD5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719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پیگیری و درخواست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3C16D-7A61-40A0-B1FE-2DE2B5CC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قیمت استعلام یا پشتیبانی مشاوره، به فنی نیاز تبدیل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089EE-8C25-4163-B540-7C40803E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اپ محلی نسخه واقعی نمای</a:t>
            </a:r>
          </a:p>
        </p:txBody>
      </p:sp>
    </p:spTree>
    <p:extLst>
      <p:ext uri="{BB962C8B-B14F-4D97-AF65-F5344CB8AC3E}">
        <p14:creationId xmlns:p14="http://schemas.microsoft.com/office/powerpoint/2010/main" val="805010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37ED44-3FA7-4032-A113-AD564439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پاسخ جریان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7DFF0-6C94-4905-9257-60A4EDFD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می‌کند عبور چندلایه مسیر یک از پاسخ هر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AFE93-2CDD-4216-9DFB-E0FC2115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4868-9BA6-4DE7-953F-B0FFB45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EAA60-0AA8-4A89-9E6B-874A6EA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752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1904A-1743-4805-90A3-9DC97E78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813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66C3"/>
                </a:solidFill>
              </a:defRPr>
            </a:pPr>
            <a:r>
              <a:rPr sz="3000" b="1">
                <a:solidFill>
                  <a:srgbClr val="0B66C3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B3F56-7862-49B5-B54E-5A84B844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66C3"/>
                </a:solidFill>
              </a:defRPr>
            </a:pPr>
            <a:r>
              <a:rPr sz="3000" b="1">
                <a:solidFill>
                  <a:srgbClr val="0B66C3"/>
                </a:solidFill>
              </a:rPr>
              <a:t>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DF60C-2B9C-4983-9EE5-498D67F1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37719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87F1E-A650-49F4-A8F4-1D4B50AD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704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9F284-D922-400E-9173-6D4F6F5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6235A-BFAA-4A35-A9F5-5037DE12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ورودی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D2D13-7A62-4864-8C5A-0714A91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933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متنی سؤال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تصویر یا فایل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گفتگو زمینه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4DC15-7DFF-4EC1-B64A-1F1A287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7719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1E418-0817-4663-887E-F0AB1EE0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704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8B927-697B-4714-9E9A-B5FA80E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431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79AEC-CB95-4B13-BED1-09A39A3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383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اعتبارسنجی و بازیابی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870C9-17F2-4676-BD49-BACECBD4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33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هدف تشخیص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برداری و داخلی دانش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وب و سایت منابع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3461F-B7CA-4DDA-8B76-1C8C938E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37719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07CE5-B25E-4935-B9F8-20459BF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704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095C2-31E9-438E-A783-F0A0F2CB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06CB97-56F4-4401-9C1C-59473216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2076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01827"/>
                </a:solidFill>
              </a:defRPr>
            </a:pPr>
            <a:r>
              <a:rPr sz="1800" b="1">
                <a:solidFill>
                  <a:srgbClr val="101827"/>
                </a:solidFill>
              </a:rPr>
              <a:t>اقدام و پاسخ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520F14-10DA-4FD3-ACF7-1D8BF47C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2933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تخصصی پاسخ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روش یا تجهیز پیشنهاد</a:t>
            </a:r>
          </a:p>
          <a:p xmlns:a="http://schemas.openxmlformats.org/drawingml/2006/main">
            <a:pPr algn="ctr">
              <a:defRPr sz="1650" b="0">
                <a:solidFill>
                  <a:srgbClr val="101827"/>
                </a:solidFill>
              </a:defRPr>
            </a:pPr>
            <a:r>
              <a:rPr sz="1650" b="0">
                <a:solidFill>
                  <a:srgbClr val="101827"/>
                </a:solidFill>
              </a:rPr>
              <a:t>پیگیری و درخواست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28E8-6A88-4E23-A2C8-9996E50C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بک‌اند فعلی معماری اساس بر پاسخ مسیر</a:t>
            </a:r>
          </a:p>
        </p:txBody>
      </p:sp>
    </p:spTree>
    <p:extLst>
      <p:ext uri="{BB962C8B-B14F-4D97-AF65-F5344CB8AC3E}">
        <p14:creationId xmlns:p14="http://schemas.microsoft.com/office/powerpoint/2010/main" val="994246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50976-6460-421A-BDAD-B4755B4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فنی معماری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92364-2115-4E50-85FB-E8828C1D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می‌کند متعادل محتوا کیفیت کنترل با را سرعت معماری،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4E620-7ED8-44B6-B6E0-5A4B4C1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08909-A2F8-4256-A302-071FDE50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2B82D-0942-449E-99D6-ABD4815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381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87653-91A2-47FD-B9BE-EACFFEB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049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AC318-A0C0-4F7D-BE3C-88F9E786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049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ED764-50BA-47C8-BD94-8392E98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383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کاربر دو‌زبانه تجربه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2DD9B-A91C-4BCA-9D94-C27D68C3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6383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داشبورد و محصولات فایل، تحلیل چت، | React + Next.js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E11B0-98D1-4E7C-B6ED-5C59FA97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D0956-AD3D-47EB-91F6-5B95A6F2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9BAE5-828C-41B3-9979-DE4B0717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دانش بازیابی و هدف تشخیص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269BE-462C-4C8B-B6ED-2A6DF0F8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527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آزما آرتین سایت منابع + برداری بازیابی + محلی سریع جستجوی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95716-EA32-4778-B5A4-331CED3D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06B38-1A9B-41ED-949F-50DD78E3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337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C54F5-79E4-48E3-A66F-740B5C72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تخصصی پاسخ تولید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288BB-C691-497F-9C70-0AFC6F7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671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تایید نیازمند پرسش‌های در وب جستجوی | API Responses OpenAI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39B22-2D4A-413E-ADC0-B90DDCD0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028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CC885-95E1-40C6-B2DA-376BEB0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B38D4-BFF3-4057-8DAB-AF09588F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عملیاتی داده و حافظه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ACAED4-D76A-476B-9A29-EB8853E6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مشتری درخواست‌های و نشست‌ها + SQLite + بردارها + دانش فایل‌های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792090-2DAC-4B7B-8C32-91A313E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8953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5C720-D25C-4266-AB4E-6068935E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042D1-8A56-444E-8159-47FEC70D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959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1827"/>
                </a:solidFill>
              </a:defRPr>
            </a:pPr>
            <a:r>
              <a:rPr sz="1575" b="1">
                <a:solidFill>
                  <a:srgbClr val="101827"/>
                </a:solidFill>
              </a:rPr>
              <a:t>دسترسی و کنترل‌ها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2D61A4-EBDA-4B5C-A109-9D7CCB9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9590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</a:defRPr>
            </a:pPr>
            <a:r>
              <a:rPr sz="1275" b="0">
                <a:solidFill>
                  <a:srgbClr val="5E6A7D"/>
                </a:solidFill>
              </a:rPr>
              <a:t>عبور رمز هش و درخواست نرخ محافظت‌شده، کلیدهای مدیر، ورود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00311-5AF2-41A4-8C8A-713DE842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FastAPI backend + Next.js frontend</a:t>
            </a:r>
          </a:p>
        </p:txBody>
      </p:sp>
    </p:spTree>
    <p:extLst>
      <p:ext uri="{BB962C8B-B14F-4D97-AF65-F5344CB8AC3E}">
        <p14:creationId xmlns:p14="http://schemas.microsoft.com/office/powerpoint/2010/main" val="392073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A9BF8-A7BD-4E0A-805C-760EF269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محصول و دانش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4F2C-C161-488A-A1C6-809DC32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است متصل فروش مسیر و کاتالوگ به تخصصی دانش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B2052-2286-49C7-B552-8648F3D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C13AC-40A5-4898-8902-7B4546F4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6607f891349a7"/>
          <a:srcRect xmlns:a="http://schemas.openxmlformats.org/drawingml/2006/main" l="9287" t="0" r="9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504950"/>
            <a:ext cx="6838950" cy="4724400"/>
          </a:xfrm>
          <a:prstGeom xmlns:a="http://schemas.openxmlformats.org/drawingml/2006/main" prst="roundRect">
            <a:avLst>
              <a:gd name="adj" fmla="val 322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5A431-AC55-44AE-947B-0581578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80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66C3"/>
                </a:solidFill>
              </a:defRPr>
            </a:pPr>
            <a:r>
              <a:rPr sz="5700" b="1">
                <a:solidFill>
                  <a:srgbClr val="0B66C3"/>
                </a:solidFill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F8F90-8726-463F-BE4B-1141091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فعلی کاتالوگ در محصول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63193-8114-4008-B85C-347BC75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471C5-6D01-46DD-816A-E36A681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کاتالیست‌ها و مواد تجهیزات، دسته‌بندی و جستجو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2DC32-012E-46A4-B5D2-2F3C8D1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F55C-70BA-4827-A82D-256AEB7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شرکت سایت در محصول واقعی صفحه به مستقیم لینک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5972D-5BD7-4FE4-9F9A-B5C657FF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395FE-94D4-43DB-B3A7-09D861F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انتخاب‌شده پیش از محصول با قیمت استعلام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531F1-6937-4070-9467-1CBB1DDA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82F49-C712-4612-AA1A-6FA42D7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01827"/>
                </a:solidFill>
              </a:defRPr>
            </a:pPr>
            <a:r>
              <a:rPr sz="1350" b="0">
                <a:solidFill>
                  <a:srgbClr val="101827"/>
                </a:solidFill>
              </a:rPr>
              <a:t>گفتگو مسیر در مرتبط پیشنهادهای نمایش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7808E-A883-4F19-9C96-C55550EF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محصول 72 محلی: نسخه کاتالوگ</a:t>
            </a:r>
          </a:p>
        </p:txBody>
      </p:sp>
    </p:spTree>
    <p:extLst>
      <p:ext uri="{BB962C8B-B14F-4D97-AF65-F5344CB8AC3E}">
        <p14:creationId xmlns:p14="http://schemas.microsoft.com/office/powerpoint/2010/main" val="1954576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9A6C03-AF83-4972-984B-CB329F3F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محصول گستره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85425-638F-41B8-9C49-C536BEB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مدیران و کارشناسان کاربران، برای محصول یک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7941E-434C-4C55-ABFC-09B6CF85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C7DA6-2FED-418A-A979-52BDBFA2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5399E-44B3-4BC2-9F70-5EA7BCF2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733800" cy="4514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8EE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a74a0897643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962150"/>
            <a:ext cx="2819400" cy="2819400"/>
          </a:xfrm>
          <a:prstGeom xmlns:a="http://schemas.openxmlformats.org/drawingml/2006/main" prst="roundRect">
            <a:avLst>
              <a:gd name="adj" fmla="val 540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6E6B8-2ABB-4E0E-BBBE-02B5541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66C3"/>
                </a:solidFill>
              </a:defRPr>
            </a:pPr>
            <a:r>
              <a:rPr sz="1425" b="1">
                <a:solidFill>
                  <a:srgbClr val="0B66C3"/>
                </a:solidFill>
              </a:rPr>
              <a:t>Web • PWA • Android • Desktop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F7534-9A86-49E0-A196-062CBDD9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دسترسی سطح چند در مشترک تجربه و هویت یک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AA6E2-6A9E-45D9-A98C-E7105AD9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8115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44BF4-9E6C-4268-B8F1-F36BCE07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مشتری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EBB1A-8044-45B1-AB28-7048DDE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651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درخواست پیگیری و پروفایل محصولات، فایل، تحلیل گفتگو،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F3CAD-B978-4B28-AFBA-796A772F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042C5-31DC-445A-80DB-F77316C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051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8307B-28EE-4A2E-806F-8280041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62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کارشناس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491EB-FD29-4F4B-A394-5BB57B4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651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اقدام به گفتگو تبدیل و تاریخچه منابع، تخصصی، پاسخ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54819-E08F-4323-9BCF-5C88C7BC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5760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C6B2B-3B6D-4FAE-8429-76804CEB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420EE-1123-463C-B312-E5C384D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86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مدیر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2BF63-BD63-4127-BA98-10A17CA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51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خطا گزارش و تنظیمات درخواست‌ها، مشتریان، سوالات، دانش،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33F46-5333-4804-A4F7-5F954DC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81550"/>
            <a:ext cx="689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969951-3E5E-45C9-8C8B-F4BCF9CC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114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5D27A-31CA-4339-ADF9-FDB1F39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10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سازمان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DF54F-EB6A-422F-B4AC-680FAC45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53050"/>
            <a:ext cx="651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A7D"/>
                </a:solidFill>
              </a:defRPr>
            </a:pPr>
            <a:r>
              <a:rPr sz="1350" b="0">
                <a:solidFill>
                  <a:srgbClr val="5E6A7D"/>
                </a:solidFill>
              </a:rPr>
              <a:t>چندسکویی نسخه‌های و دسترسی کنترل خصوصی، حریم فارسی/انگلیسی، رابط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32186-9856-4240-83A3-59F5A55D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فعلی نسخه در موجود مسیرهای اساس بر محصول سطوح</a:t>
            </a:r>
          </a:p>
        </p:txBody>
      </p:sp>
    </p:spTree>
    <p:extLst>
      <p:ext uri="{BB962C8B-B14F-4D97-AF65-F5344CB8AC3E}">
        <p14:creationId xmlns:p14="http://schemas.microsoft.com/office/powerpoint/2010/main" val="663838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3A41F-9DDB-44EA-9F3A-41C941A4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66C3"/>
                </a:solidFill>
              </a:defRPr>
            </a:pPr>
            <a:r>
              <a:rPr sz="1200" b="1">
                <a:solidFill>
                  <a:srgbClr val="0B66C3"/>
                </a:solidFill>
              </a:rPr>
              <a:t>فعلی دامنه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BE5F-FE94-40E0-A541-D669FF7E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"/>
            <a:ext cx="8934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است آماده واقعی پایلوت یک شروع برای فعلی، دامنه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E4766-A9C9-45CF-A087-993611C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FBF4D-37F4-40C3-94E6-1ACC23A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A7D"/>
                </a:solidFill>
              </a:defRPr>
            </a:pPr>
            <a:r>
              <a:rPr sz="1050" b="0">
                <a:solidFill>
                  <a:srgbClr val="5E6A7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50D90-FD9D-41FC-9CD7-E349009D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E6A7D"/>
                </a:solidFill>
              </a:defRPr>
            </a:pPr>
            <a:r>
              <a:rPr sz="1500" b="0">
                <a:solidFill>
                  <a:srgbClr val="5E6A7D"/>
                </a:solidFill>
              </a:rPr>
              <a:t>می‌دهند. نشان را امروز محلی رابط و مخزن در پیاده‌سازی‌شده دامنه زیر، اعداد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88BE2-C8C8-4B8F-981F-060574C1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571750" cy="2914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C2961-EC78-40AA-9A8B-FE2278F6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93B65-B054-43F2-B8D7-F1597DB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B66C3"/>
                </a:solidFill>
              </a:defRPr>
            </a:pPr>
            <a:r>
              <a:rPr sz="4800" b="1">
                <a:solidFill>
                  <a:srgbClr val="0B66C3"/>
                </a:solidFill>
              </a:rPr>
              <a:t>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F383F-A992-48DC-833B-1CAF7EDF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محصول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1155C-28DB-49A2-8A21-7EAE3FD8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استعلام و جستجو قابل کاتالوگ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10BB9-5B48-4C17-ABE0-047ED512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90750"/>
            <a:ext cx="2571750" cy="2914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F9ADD-486A-4420-BBCD-78DDB8FB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907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9D771-DBA4-427D-86A9-94B58763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717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38A62"/>
                </a:solidFill>
              </a:defRPr>
            </a:pPr>
            <a:r>
              <a:rPr sz="4800" b="1">
                <a:solidFill>
                  <a:srgbClr val="138A62"/>
                </a:solidFill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A030B-E673-446F-ACBF-5B49CB44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81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فایل فرمت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9BE0D-8A3F-4151-A3B8-1E82901E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719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PNG و JPG PDF، CSV، Excel،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D83B4-A2E4-4957-81F2-1397813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571750" cy="2914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81F14-E0E7-4182-A9DA-FA7B5FDD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6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278BE-D03C-449D-8071-53D6BD07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796C9"/>
                </a:solidFill>
              </a:defRPr>
            </a:pPr>
            <a:r>
              <a:rPr sz="4800" b="1">
                <a:solidFill>
                  <a:srgbClr val="0796C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D5808-B7FA-46EC-8E8D-7B68EC86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ارائه سطح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F438E-5E44-4881-A36D-3F658DE7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Desktop و Android PWA، Web،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D70E8-9C05-47B0-B494-22ED50DD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90750"/>
            <a:ext cx="2571750" cy="2914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95914-411C-40C8-8780-B7E9FE30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9075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AE608-17E2-40F2-AE99-0A4811FF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71750"/>
            <a:ext cx="2114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59E0B"/>
                </a:solidFill>
              </a:defRPr>
            </a:pPr>
            <a:r>
              <a:rPr sz="4800" b="1">
                <a:solidFill>
                  <a:srgbClr val="F59E0B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914DB-9904-4ACB-BAC4-FFD7557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581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زبان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223C4-B0D3-48A8-8976-D93BF16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A7D"/>
                </a:solidFill>
              </a:defRPr>
            </a:pPr>
            <a:r>
              <a:rPr sz="1200" b="0">
                <a:solidFill>
                  <a:srgbClr val="5E6A7D"/>
                </a:solidFill>
              </a:rPr>
              <a:t>مناسب چیدمان با انگلیسی و فارسی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E555CC-5936-433E-8461-1BF8C4CA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65E98-A5EE-4C1C-B61B-52C3B387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کرد. آغاز مشتری مشخص جریان یک و منتخب اسناد واقعی، سوال‌های با می‌توان را پایلوت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4ED9A6-DDB1-4D41-BF18-7782E6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A7D"/>
                </a:solidFill>
              </a:defRPr>
            </a:pPr>
            <a:r>
              <a:rPr sz="975" b="0">
                <a:solidFill>
                  <a:srgbClr val="5E6A7D"/>
                </a:solidFill>
              </a:rPr>
              <a:t>محلی رابط و پروژه فعلی نسخه از شمارش‌ها</a:t>
            </a:r>
          </a:p>
        </p:txBody>
      </p:sp>
    </p:spTree>
    <p:extLst>
      <p:ext uri="{BB962C8B-B14F-4D97-AF65-F5344CB8AC3E}">
        <p14:creationId xmlns:p14="http://schemas.microsoft.com/office/powerpoint/2010/main" val="667463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F171D-F0BF-4324-A340-4E7B138C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7d047831045d0"/>
          <a:srcRect xmlns:a="http://schemas.openxmlformats.org/drawingml/2006/main" l="18750" t="0" r="18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D0625-293D-49D5-A7F5-50D97124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928"/>
                </a:solidFill>
              </a:defRPr>
            </a:pPr>
            <a:r>
              <a:rPr sz="1200" b="1">
                <a:solidFill>
                  <a:srgbClr val="FFC928"/>
                </a:solidFill>
              </a:rPr>
              <a:t>ARTINAZMA EXPERT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6EF6B-C3C9-4B9C-B065-D88BE21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اتصال نقطه آرتین،</a:t>
            </a:r>
          </a:p>
          <a:p xmlns:a="http://schemas.openxmlformats.org/drawingml/2006/main">
            <a:pPr algn="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مشتری تجربه و فنی دانش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939FE-21A4-4DBD-B9CE-2E296FB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C928"/>
                </a:solidFill>
              </a:defRPr>
            </a:pPr>
            <a:r>
              <a:rPr sz="1650" b="1">
                <a:solidFill>
                  <a:srgbClr val="FFC928"/>
                </a:solidFill>
              </a:rPr>
              <a:t>پیشنهادی پایلوت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EDB45-E88D-415F-AD60-493EE2C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کارشناسان و مشتریان از واقعی پرسش ۳۰ تا ۲۰ انتخاب 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0BCF5-0DF6-45C4-B631-C5C1A5AA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مشخص مالک با منتخب کاتالوگ‌های و اسناد بارگذاری 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1ACE-46E1-4FBB-A4F0-85895977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فروش و درخواست جریان به اتصال و پاسخ کیفیت سنجش ۳.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7F641-7881-4AB5-B3B9-F8E222AD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928"/>
                </a:solidFill>
              </a:defRPr>
            </a:pPr>
            <a:r>
              <a:rPr sz="1200" b="1">
                <a:solidFill>
                  <a:srgbClr val="FFC928"/>
                </a:solidFill>
              </a:rPr>
              <a:t>assistant.artinazma.net</a:t>
            </a:r>
          </a:p>
        </p:txBody>
      </p:sp>
    </p:spTree>
    <p:extLst>
      <p:ext uri="{BB962C8B-B14F-4D97-AF65-F5344CB8AC3E}">
        <p14:creationId xmlns:p14="http://schemas.microsoft.com/office/powerpoint/2010/main" val="915428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2026-07-10T09:07:29.7070000Z</dcterms:created>
  <dcterms:modified xsi:type="dcterms:W3CDTF">2026-07-10T09:07:29.7070000Z</dcterms:modified>
</coreProperties>
</file>