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bin" ContentType="image/webp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bb1c00f6e684af1" /><Relationship Type="http://schemas.openxmlformats.org/officeDocument/2006/relationships/extended-properties" Target="/docProps/app.xml" Id="R15356b85b1224138" /><Relationship Type="http://schemas.openxmlformats.org/officeDocument/2006/relationships/officeDocument" Target="/ppt/presentation.xml" Id="R0ae847770096474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1deec6056cd4b8d"/>
  </p:sldMasterIdLst>
  <p:notesMasterIdLst>
    <p:notesMasterId xmlns:r="http://schemas.openxmlformats.org/officeDocument/2006/relationships" r:id="R64348803e0074ff8"/>
  </p:notesMasterIdLst>
  <p:sldIdLst>
    <p:sldId xmlns:r="http://schemas.openxmlformats.org/officeDocument/2006/relationships" id="256" r:id="Rd9fac194380240de"/>
    <p:sldId xmlns:r="http://schemas.openxmlformats.org/officeDocument/2006/relationships" id="257" r:id="Rf7cb0bb9dfa943bd"/>
    <p:sldId xmlns:r="http://schemas.openxmlformats.org/officeDocument/2006/relationships" id="258" r:id="Re3ce0be16a3e44e5"/>
    <p:sldId xmlns:r="http://schemas.openxmlformats.org/officeDocument/2006/relationships" id="259" r:id="Rc6b941c4ac394248"/>
    <p:sldId xmlns:r="http://schemas.openxmlformats.org/officeDocument/2006/relationships" id="260" r:id="R052748ebcd6848ab"/>
    <p:sldId xmlns:r="http://schemas.openxmlformats.org/officeDocument/2006/relationships" id="261" r:id="R9d2852321f0c4107"/>
    <p:sldId xmlns:r="http://schemas.openxmlformats.org/officeDocument/2006/relationships" id="262" r:id="Red8f4c551bc04c31"/>
    <p:sldId xmlns:r="http://schemas.openxmlformats.org/officeDocument/2006/relationships" id="263" r:id="R6173f11e591b49b5"/>
    <p:sldId xmlns:r="http://schemas.openxmlformats.org/officeDocument/2006/relationships" id="264" r:id="Rf9be0fb471be4fbe"/>
    <p:sldId xmlns:r="http://schemas.openxmlformats.org/officeDocument/2006/relationships" id="265" r:id="Re3388a82304e48d3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9a0b80715854c5e" /><Relationship Type="http://schemas.openxmlformats.org/officeDocument/2006/relationships/slideMaster" Target="/ppt/slideMasters/slideMaster1.xml" Id="R51deec6056cd4b8d" /><Relationship Type="http://schemas.openxmlformats.org/officeDocument/2006/relationships/notesMaster" Target="/ppt/notesMasters/notesMaster1.xml" Id="R64348803e0074ff8" /><Relationship Type="http://schemas.openxmlformats.org/officeDocument/2006/relationships/presProps" Target="/ppt/presProps.xml" Id="R24cb1bdf4be944c6" /><Relationship Type="http://schemas.openxmlformats.org/officeDocument/2006/relationships/tableStyles" Target="/ppt/tableStyles.xml" Id="R9baff7a70aa74fd1" /><Relationship Type="http://schemas.openxmlformats.org/officeDocument/2006/relationships/slide" Target="/ppt/slides/slide1.xml" Id="Rd9fac194380240de" /><Relationship Type="http://schemas.openxmlformats.org/officeDocument/2006/relationships/slide" Target="/ppt/slides/slide2.xml" Id="Rf7cb0bb9dfa943bd" /><Relationship Type="http://schemas.openxmlformats.org/officeDocument/2006/relationships/slide" Target="/ppt/slides/slide3.xml" Id="Re3ce0be16a3e44e5" /><Relationship Type="http://schemas.openxmlformats.org/officeDocument/2006/relationships/slide" Target="/ppt/slides/slide4.xml" Id="Rc6b941c4ac394248" /><Relationship Type="http://schemas.openxmlformats.org/officeDocument/2006/relationships/slide" Target="/ppt/slides/slide5.xml" Id="R052748ebcd6848ab" /><Relationship Type="http://schemas.openxmlformats.org/officeDocument/2006/relationships/slide" Target="/ppt/slides/slide6.xml" Id="R9d2852321f0c4107" /><Relationship Type="http://schemas.openxmlformats.org/officeDocument/2006/relationships/slide" Target="/ppt/slides/slide7.xml" Id="Red8f4c551bc04c31" /><Relationship Type="http://schemas.openxmlformats.org/officeDocument/2006/relationships/slide" Target="/ppt/slides/slide8.xml" Id="R6173f11e591b49b5" /><Relationship Type="http://schemas.openxmlformats.org/officeDocument/2006/relationships/slide" Target="/ppt/slides/slide9.xml" Id="Rf9be0fb471be4fbe" /><Relationship Type="http://schemas.openxmlformats.org/officeDocument/2006/relationships/slide" Target="/ppt/slides/slide10.xml" Id="Re3388a82304e48d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952ff4b2be8403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7eb949c2b574fa1" /><Relationship Type="http://schemas.openxmlformats.org/officeDocument/2006/relationships/notesMaster" Target="/ppt/notesMasters/notesMaster1.xml" Id="R73c41d7d084540a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9f68635a64146a5" /><Relationship Type="http://schemas.openxmlformats.org/officeDocument/2006/relationships/notesMaster" Target="/ppt/notesMasters/notesMaster1.xml" Id="R9ad158554bac45d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c55e36a9d244323" /><Relationship Type="http://schemas.openxmlformats.org/officeDocument/2006/relationships/notesMaster" Target="/ppt/notesMasters/notesMaster1.xml" Id="R3dab9de3b0cf430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c34ccbd561c4bfc" /><Relationship Type="http://schemas.openxmlformats.org/officeDocument/2006/relationships/notesMaster" Target="/ppt/notesMasters/notesMaster1.xml" Id="R5f78ff7a2de843b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6b6a307bdbf47a0" /><Relationship Type="http://schemas.openxmlformats.org/officeDocument/2006/relationships/notesMaster" Target="/ppt/notesMasters/notesMaster1.xml" Id="R742f830e935b4f38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f84f011101f8440f" /><Relationship Type="http://schemas.openxmlformats.org/officeDocument/2006/relationships/notesMaster" Target="/ppt/notesMasters/notesMaster1.xml" Id="R21d13a5fafe6401b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f41b3c6eaa404658" /><Relationship Type="http://schemas.openxmlformats.org/officeDocument/2006/relationships/notesMaster" Target="/ppt/notesMasters/notesMaster1.xml" Id="Ra7ce1f5c69f8471e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a6720a1c9e9e4d26" /><Relationship Type="http://schemas.openxmlformats.org/officeDocument/2006/relationships/notesMaster" Target="/ppt/notesMasters/notesMaster1.xml" Id="Redab9b144df8402a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5bb61f747a254305" /><Relationship Type="http://schemas.openxmlformats.org/officeDocument/2006/relationships/notesMaster" Target="/ppt/notesMasters/notesMaster1.xml" Id="Rab47801e9b164ea8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96cd10272e464624" /><Relationship Type="http://schemas.openxmlformats.org/officeDocument/2006/relationships/notesMaster" Target="/ppt/notesMasters/notesMaster1.xml" Id="Rb973aee4b91f44f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7f50d6eb8f649b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bce3f45d8074de5" /><Relationship Type="http://schemas.openxmlformats.org/officeDocument/2006/relationships/slideLayout" Target="/ppt/slideLayouts/slideLayout1.xml" Id="R856aae38ea65428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56aae38ea65428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e3145295cea4436" /><Relationship Type="http://schemas.openxmlformats.org/officeDocument/2006/relationships/image" Target="/ppt/media/image.png" Id="R155df43abb214435" /><Relationship Type="http://schemas.openxmlformats.org/officeDocument/2006/relationships/image" Target="/ppt/media/image.bin" Id="R31016ef3f0104d81" /><Relationship Type="http://schemas.openxmlformats.org/officeDocument/2006/relationships/notesSlide" Target="/ppt/notesSlides/notesSlide1.xml" Id="Rdd5985147f1a4bb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75a2ae74e2045f3" /><Relationship Type="http://schemas.openxmlformats.org/officeDocument/2006/relationships/notesSlide" Target="/ppt/notesSlides/notesSlide2.xml" Id="Re1256b803f16494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1eaaceeed48476b" /><Relationship Type="http://schemas.openxmlformats.org/officeDocument/2006/relationships/image" Target="/ppt/media/image.jpeg" Id="R6c9a5de01799407a" /><Relationship Type="http://schemas.openxmlformats.org/officeDocument/2006/relationships/notesSlide" Target="/ppt/notesSlides/notesSlide3.xml" Id="Ra4e4d1dc578e42d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c28665ed7da441b" /><Relationship Type="http://schemas.openxmlformats.org/officeDocument/2006/relationships/notesSlide" Target="/ppt/notesSlides/notesSlide4.xml" Id="Rb37644b1fe46456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e4bbd071d834483" /><Relationship Type="http://schemas.openxmlformats.org/officeDocument/2006/relationships/notesSlide" Target="/ppt/notesSlides/notesSlide5.xml" Id="Rbf0d355a1c424df5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fe94ea31c0844c0" /><Relationship Type="http://schemas.openxmlformats.org/officeDocument/2006/relationships/notesSlide" Target="/ppt/notesSlides/notesSlide6.xml" Id="R0fa2f0859ad5490b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c59804f00e44e79" /><Relationship Type="http://schemas.openxmlformats.org/officeDocument/2006/relationships/notesSlide" Target="/ppt/notesSlides/notesSlide7.xml" Id="R51cf3d405bab47c1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51cf014f9194b81" /><Relationship Type="http://schemas.openxmlformats.org/officeDocument/2006/relationships/notesSlide" Target="/ppt/notesSlides/notesSlide8.xml" Id="R747b0f49ec5c4eec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105b7d0ccb449e9" /><Relationship Type="http://schemas.openxmlformats.org/officeDocument/2006/relationships/notesSlide" Target="/ppt/notesSlides/notesSlide9.xml" Id="R65b2dd2cb3b1404f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325db896ed840ca" /><Relationship Type="http://schemas.openxmlformats.org/officeDocument/2006/relationships/notesSlide" Target="/ppt/notesSlides/notesSlide10.xml" Id="R1a6622fcff5a4a3f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4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D154113-F355-43A2-AF96-6B7E44A28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7D95557-B183-406C-BE8B-E63B0C453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3815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239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55df43abb214435"/>
          <a:stretch xmlns:a="http://schemas.openxmlformats.org/drawingml/2006/main"/>
        </p:blipFill>
        <p:spPr>
          <a:xfrm xmlns:a="http://schemas.openxmlformats.org/drawingml/2006/main">
            <a:off x="895350" y="711500"/>
            <a:ext cx="2000250" cy="729651"/>
          </a:xfrm>
          <a:prstGeom xmlns:a="http://schemas.openxmlformats.org/drawingml/2006/main" prst="roundRect">
            <a:avLst>
              <a:gd name="adj" fmla="val 9756"/>
            </a:avLst>
          </a:prstGeom>
        </p:spPr>
      </p:pic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1016ef3f0104d81"/>
          <a:stretch xmlns:a="http://schemas.openxmlformats.org/drawingml/2006/main"/>
        </p:blipFill>
        <p:spPr>
          <a:xfrm xmlns:a="http://schemas.openxmlformats.org/drawingml/2006/main">
            <a:off x="1425575" y="2076450"/>
            <a:ext cx="1587500" cy="2381250"/>
          </a:xfrm>
          <a:prstGeom xmlns:a="http://schemas.openxmlformats.org/drawingml/2006/main" prst="roundRect">
            <a:avLst>
              <a:gd name="adj" fmla="val 3200"/>
            </a:avLst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8DB370A-787D-45C1-801B-8A345F894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1200150"/>
            <a:ext cx="61912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4050" b="1">
                <a:solidFill>
                  <a:srgbClr val="0B2239"/>
                </a:solidFill>
              </a:defRPr>
            </a:pPr>
            <a:r>
              <a:rPr sz="4050" b="1">
                <a:solidFill>
                  <a:srgbClr val="0B2239"/>
                </a:solidFill>
              </a:rPr>
              <a:t>‏دستیار هوشمند تخصصی آرتین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DFD6C26-FBB7-4FE3-B51B-70D1394B0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2724150"/>
            <a:ext cx="60769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875" b="0">
                <a:solidFill>
                  <a:srgbClr val="5B6778"/>
                </a:solidFill>
              </a:defRPr>
            </a:pPr>
            <a:r>
              <a:rPr sz="1875" b="0">
                <a:solidFill>
                  <a:srgbClr val="5B6778"/>
                </a:solidFill>
              </a:rPr>
              <a:t>‏گزارش ساخت، قابلیت‌ها و مسیر راه‌اندازی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62D8E71-9C71-43AB-BEA0-7A83E8DFB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4076700"/>
            <a:ext cx="367665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DE491E0-F782-475C-A3FE-000F2E3D6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4229100"/>
            <a:ext cx="32194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E8A83"/>
                </a:solidFill>
              </a:defRPr>
            </a:pPr>
            <a:r>
              <a:rPr sz="1725" b="1">
                <a:solidFill>
                  <a:srgbClr val="0E8A83"/>
                </a:solidFill>
              </a:rPr>
              <a:t>‏ارائه مدیریتی | ۱۴۰۵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335315E-E00C-497D-9B79-33AAF8733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5257800"/>
            <a:ext cx="60769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5B6778"/>
                </a:solidFill>
              </a:defRPr>
            </a:pPr>
            <a:r>
              <a:rPr sz="1500" b="0">
                <a:solidFill>
                  <a:srgbClr val="5B6778"/>
                </a:solidFill>
              </a:rPr>
              <a:t>‏آماده برای پایش، تصمیم‌گیری و توسعه نسخه بعد</a:t>
            </a:r>
          </a:p>
        </p:txBody>
      </p:sp>
    </p:spTree>
    <p:extLst>
      <p:ext uri="{BB962C8B-B14F-4D97-AF65-F5344CB8AC3E}">
        <p14:creationId xmlns:p14="http://schemas.microsoft.com/office/powerpoint/2010/main" val="159695044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9D4A62B-6332-411B-A00B-227322F3C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10820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0E8A83"/>
                </a:solidFill>
              </a:defRPr>
            </a:pPr>
            <a:r>
              <a:rPr sz="1200" b="1">
                <a:solidFill>
                  <a:srgbClr val="0E8A83"/>
                </a:solidFill>
              </a:rPr>
              <a:t>ArtinAzma Expert Assistant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1CB9AEF-E07D-4D25-BD42-0BDB4AB8E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04850"/>
            <a:ext cx="10820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2775" b="1">
                <a:solidFill>
                  <a:srgbClr val="0B2239"/>
                </a:solidFill>
              </a:defRPr>
            </a:pPr>
            <a:r>
              <a:rPr sz="2775" b="1">
                <a:solidFill>
                  <a:srgbClr val="0B2239"/>
                </a:solidFill>
              </a:rPr>
              <a:t>‏مسئله‌ای که حل شد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14233DA-AD2E-4083-8D98-15ECDC7DC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716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4D32558-5B1D-4DB3-9E22-BE7D0C36C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676400"/>
            <a:ext cx="9906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800" b="0">
                <a:solidFill>
                  <a:srgbClr val="111827"/>
                </a:solidFill>
              </a:defRPr>
            </a:pPr>
            <a:r>
              <a:rPr sz="1800" b="0">
                <a:solidFill>
                  <a:srgbClr val="111827"/>
                </a:solidFill>
              </a:rPr>
              <a:t>‏قبل از آرتین، دانش تخصصی شرکت در فایل‌ها، تجربه افراد، مکاتبات و صفحات پراکنده بود؛ پاسخ‌گویی سریع و یکنواخت به مشتریان صنعتی سخت می‌شد.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B2EDC4A-96ED-4CA8-8626-E3363F689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895600"/>
            <a:ext cx="3276600" cy="1447800"/>
          </a:xfrm>
          <a:prstGeom xmlns:a="http://schemas.openxmlformats.org/drawingml/2006/main" prst="roundRect">
            <a:avLst>
              <a:gd name="adj" fmla="val 526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30FF5E7-3FA2-414F-A200-F17672027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9900" y="3067050"/>
            <a:ext cx="381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47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9F537A2-5902-471A-9925-9F6D5DE72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3067050"/>
            <a:ext cx="2781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650" b="1">
                <a:solidFill>
                  <a:srgbClr val="0B2239"/>
                </a:solidFill>
              </a:defRPr>
            </a:pPr>
            <a:r>
              <a:rPr sz="1650" b="1">
                <a:solidFill>
                  <a:srgbClr val="0B2239"/>
                </a:solidFill>
              </a:rPr>
              <a:t>‏پراکندگی دانش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CAF34F2-5EF0-4A21-AF78-9F36253BC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3448050"/>
            <a:ext cx="27813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5B6778"/>
                </a:solidFill>
              </a:defRPr>
            </a:pPr>
            <a:r>
              <a:rPr sz="1275" b="0">
                <a:solidFill>
                  <a:srgbClr val="5B6778"/>
                </a:solidFill>
              </a:rPr>
              <a:t>‏اطلاعات فنی تجهیزات، مواد، کاتالیست‌ها و استانداردها در منابع جداگانه قرار داشت.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F1F5BC5-F89F-4868-A1D5-099887A3C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895600"/>
            <a:ext cx="2667000" cy="1447800"/>
          </a:xfrm>
          <a:prstGeom xmlns:a="http://schemas.openxmlformats.org/drawingml/2006/main" prst="roundRect">
            <a:avLst>
              <a:gd name="adj" fmla="val 526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B885D24-0EA0-4C9C-B98E-14AA8C3DA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3067050"/>
            <a:ext cx="381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A7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681E45E-E3C1-4D2F-8C11-37D0B4DF7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3067050"/>
            <a:ext cx="2171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650" b="1">
                <a:solidFill>
                  <a:srgbClr val="0B2239"/>
                </a:solidFill>
              </a:defRPr>
            </a:pPr>
            <a:r>
              <a:rPr sz="1650" b="1">
                <a:solidFill>
                  <a:srgbClr val="0B2239"/>
                </a:solidFill>
              </a:rPr>
              <a:t>‏وابستگی به افراد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42F04EC-5436-40C6-AFD7-3BC9EDC20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3448050"/>
            <a:ext cx="21717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5B6778"/>
                </a:solidFill>
              </a:defRPr>
            </a:pPr>
            <a:r>
              <a:rPr sz="1275" b="0">
                <a:solidFill>
                  <a:srgbClr val="5B6778"/>
                </a:solidFill>
              </a:rPr>
              <a:t>‏کیفیت پاسخ‌ها به حضور و حافظه چند نفر متخصص وابسته بود.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68A696F-1C34-4FD8-91A8-412B37BED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2895600"/>
            <a:ext cx="2667000" cy="1447800"/>
          </a:xfrm>
          <a:prstGeom xmlns:a="http://schemas.openxmlformats.org/drawingml/2006/main" prst="roundRect">
            <a:avLst>
              <a:gd name="adj" fmla="val 526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F448C7F-3B33-418A-B1F9-C32E59D3C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3067050"/>
            <a:ext cx="381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8A8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D22A75E-935B-46DB-86F1-484C5FDF0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067050"/>
            <a:ext cx="2171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650" b="1">
                <a:solidFill>
                  <a:srgbClr val="0B2239"/>
                </a:solidFill>
              </a:defRPr>
            </a:pPr>
            <a:r>
              <a:rPr sz="1650" b="1">
                <a:solidFill>
                  <a:srgbClr val="0B2239"/>
                </a:solidFill>
              </a:rPr>
              <a:t>‏کندی در فروش فنی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7542754-5F78-4A04-A7E4-ADD895FCF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448050"/>
            <a:ext cx="21717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5B6778"/>
                </a:solidFill>
              </a:defRPr>
            </a:pPr>
            <a:r>
              <a:rPr sz="1275" b="0">
                <a:solidFill>
                  <a:srgbClr val="5B6778"/>
                </a:solidFill>
              </a:rPr>
              <a:t>‏تبدیل سوال مشتری به پیشنهاد، پیگیری یا درخواست قیمت زمان‌بر بود.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0AF48A8-CF63-4639-BDAD-1D2EAC2C7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4991100"/>
            <a:ext cx="9239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B2239"/>
                </a:solidFill>
              </a:defRPr>
            </a:pPr>
            <a:r>
              <a:rPr sz="1800" b="1">
                <a:solidFill>
                  <a:srgbClr val="0B2239"/>
                </a:solidFill>
              </a:rPr>
              <a:t>‏هدف پروژه: تبدیل دانش شرکت به یک دستیار قابل استفاده برای مشتری، کارشناس فروش و مدیر سیستم.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F38023D-0411-4E2D-AD6E-9B3BE632B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B6778"/>
                </a:solidFill>
              </a:defRPr>
            </a:pPr>
            <a:r>
              <a:rPr sz="1050" b="0">
                <a:solidFill>
                  <a:srgbClr val="5B6778"/>
                </a:solidFill>
              </a:rPr>
              <a:t>‏آرتین‌آزما مهر | معرفی دستیار هوشمند تخصصی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C55840B-3D31-4A37-B82E-26529471A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62700"/>
            <a:ext cx="552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0E8A83"/>
                </a:solidFill>
              </a:defRPr>
            </a:pPr>
            <a:r>
              <a:rPr sz="1200" b="1">
                <a:solidFill>
                  <a:srgbClr val="0E8A83"/>
                </a:solidFill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30190309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4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C8F2BBC-7DEF-443D-9A79-EF1D2354C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10820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0E8A83"/>
                </a:solidFill>
              </a:defRPr>
            </a:pPr>
            <a:r>
              <a:rPr sz="1200" b="1">
                <a:solidFill>
                  <a:srgbClr val="0E8A83"/>
                </a:solidFill>
              </a:rPr>
              <a:t>ArtinAzma Expert Assistant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CA4424B-5616-4240-8733-1B0DBFA8B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04850"/>
            <a:ext cx="10820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2775" b="1">
                <a:solidFill>
                  <a:srgbClr val="0B2239"/>
                </a:solidFill>
              </a:defRPr>
            </a:pPr>
            <a:r>
              <a:rPr sz="2775" b="1">
                <a:solidFill>
                  <a:srgbClr val="0B2239"/>
                </a:solidFill>
              </a:rPr>
              <a:t>‏راه‌حل ساخته‌شده چیست؟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061365E-6612-4B1D-A102-7311CB721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716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c9a5de01799407a"/>
          <a:srcRect xmlns:a="http://schemas.openxmlformats.org/drawingml/2006/main" l="0" t="5556" r="0" b="555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57250" y="1752600"/>
            <a:ext cx="3429000" cy="3048000"/>
          </a:xfrm>
          <a:prstGeom xmlns:a="http://schemas.openxmlformats.org/drawingml/2006/main" prst="roundRect">
            <a:avLst>
              <a:gd name="adj" fmla="val 2500"/>
            </a:avLst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716EC60-DD2C-4334-93F1-66C40F433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1752600"/>
            <a:ext cx="60579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800" b="0">
                <a:solidFill>
                  <a:srgbClr val="111827"/>
                </a:solidFill>
              </a:defRPr>
            </a:pPr>
            <a:r>
              <a:rPr sz="1800" b="0">
                <a:solidFill>
                  <a:srgbClr val="111827"/>
                </a:solidFill>
              </a:rPr>
              <a:t>‏آرتین یک اپلیکیشن وب دو زبانه است که برای حوزه تجهیزات آزمایشگاهی، آنالیز، مواد شیمیایی، کاتالیست و صنایع نفت/گاز/پتروشیمی طراحی شده است.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1906C16-0353-4BD2-860E-81ABC4326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9900" y="31242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E8A8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B7F4C7A-6237-412A-ABA2-790AA0B1A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3048000"/>
            <a:ext cx="5676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111827"/>
                </a:solidFill>
              </a:defRPr>
            </a:pPr>
            <a:r>
              <a:rPr sz="1500" b="0">
                <a:solidFill>
                  <a:srgbClr val="111827"/>
                </a:solidFill>
              </a:rPr>
              <a:t>‏چت تخصصی با شخصیت برند آرتین و پاسخ‌های فارسی/انگلیسی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321513B-7B3E-4868-B5B0-C0CC890B3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9900" y="36385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E8A8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81C3811-0EE7-4F2E-BA98-979812F81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3562350"/>
            <a:ext cx="5676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111827"/>
                </a:solidFill>
              </a:defRPr>
            </a:pPr>
            <a:r>
              <a:rPr sz="1500" b="0">
                <a:solidFill>
                  <a:srgbClr val="111827"/>
                </a:solidFill>
              </a:rPr>
              <a:t>‏اتصال به بانک دانش داخلی و صفحات محصول شرکت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2A02D32-CAE5-4C19-8826-EF325BA00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9900" y="41529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E8A8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F2DBB12-C48A-4069-868D-1CC1A90E2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4076700"/>
            <a:ext cx="5676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111827"/>
                </a:solidFill>
              </a:defRPr>
            </a:pPr>
            <a:r>
              <a:rPr sz="1500" b="0">
                <a:solidFill>
                  <a:srgbClr val="111827"/>
                </a:solidFill>
              </a:rPr>
              <a:t>‏تحلیل فایل و تصویر برای داده‌های آزمایشگاهی و مستندات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EBB1804-4003-4A1F-B2A1-B9F28D5F7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9900" y="46672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E8A8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E1D8FD8-1CFE-4277-9A13-7CBC06A0D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4591050"/>
            <a:ext cx="5676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111827"/>
                </a:solidFill>
              </a:defRPr>
            </a:pPr>
            <a:r>
              <a:rPr sz="1500" b="0">
                <a:solidFill>
                  <a:srgbClr val="111827"/>
                </a:solidFill>
              </a:rPr>
              <a:t>‏پنل مشتری، درخواست قیمت/تماس و داشبورد ادمین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47482A8-DA07-4513-ACA4-631F54160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B6778"/>
                </a:solidFill>
              </a:defRPr>
            </a:pPr>
            <a:r>
              <a:rPr sz="1050" b="0">
                <a:solidFill>
                  <a:srgbClr val="5B6778"/>
                </a:solidFill>
              </a:rPr>
              <a:t>‏آرتین‌آزما مهر | معرفی دستیار هوشمند تخصصی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6E61371-9EAA-414B-85A0-B3DB7221A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62700"/>
            <a:ext cx="552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0E8A83"/>
                </a:solidFill>
              </a:defRPr>
            </a:pPr>
            <a:r>
              <a:rPr sz="1200" b="1">
                <a:solidFill>
                  <a:srgbClr val="0E8A83"/>
                </a:solidFill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4421160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C5A713B-B9B0-4295-8BEE-77BAB2017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10820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0E8A83"/>
                </a:solidFill>
              </a:defRPr>
            </a:pPr>
            <a:r>
              <a:rPr sz="1200" b="1">
                <a:solidFill>
                  <a:srgbClr val="0E8A83"/>
                </a:solidFill>
              </a:rPr>
              <a:t>ArtinAzma Expert Assistant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F3A768C-601A-4C0E-B82C-221C51346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04850"/>
            <a:ext cx="10820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2775" b="1">
                <a:solidFill>
                  <a:srgbClr val="0B2239"/>
                </a:solidFill>
              </a:defRPr>
            </a:pPr>
            <a:r>
              <a:rPr sz="2775" b="1">
                <a:solidFill>
                  <a:srgbClr val="0B2239"/>
                </a:solidFill>
              </a:rPr>
              <a:t>‏قابلیت‌های اصلی برای کاربران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685109C-2565-420F-A61D-CAD11FFF5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716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43CF3AE-F213-4D1B-B40F-CE6FDC937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1752600"/>
            <a:ext cx="3143250" cy="1390650"/>
          </a:xfrm>
          <a:prstGeom xmlns:a="http://schemas.openxmlformats.org/drawingml/2006/main" prst="roundRect">
            <a:avLst>
              <a:gd name="adj" fmla="val 547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38C63C0-65D9-442C-8243-5DC8F1811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1924050"/>
            <a:ext cx="381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8A8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28F887A-4CDC-4A88-8CD3-74D32A78D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1924050"/>
            <a:ext cx="2647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650" b="1">
                <a:solidFill>
                  <a:srgbClr val="0B2239"/>
                </a:solidFill>
              </a:defRPr>
            </a:pPr>
            <a:r>
              <a:rPr sz="1650" b="1">
                <a:solidFill>
                  <a:srgbClr val="0B2239"/>
                </a:solidFill>
              </a:rPr>
              <a:t>‏چت تخصصی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C7D6332-00AF-4F4E-9C7B-E59F00F3A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2305050"/>
            <a:ext cx="26479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5B6778"/>
                </a:solidFill>
              </a:defRPr>
            </a:pPr>
            <a:r>
              <a:rPr sz="1275" b="0">
                <a:solidFill>
                  <a:srgbClr val="5B6778"/>
                </a:solidFill>
              </a:rPr>
              <a:t>‏پاسخ به پرسش‌های فنی، پیشنهاد تجهیزات، عیب‌یابی و توضیح استانداردها با زبان قابل فهم.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971AD91-9D62-4149-8ECA-C8D967711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1752600"/>
            <a:ext cx="2895600" cy="1390650"/>
          </a:xfrm>
          <a:prstGeom xmlns:a="http://schemas.openxmlformats.org/drawingml/2006/main" prst="roundRect">
            <a:avLst>
              <a:gd name="adj" fmla="val 547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BF0D5F6-EA67-4DAD-9277-2D328CC3C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1924050"/>
            <a:ext cx="381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A7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4C03531-BB2D-476B-BAD0-D5B94781E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1924050"/>
            <a:ext cx="2400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650" b="1">
                <a:solidFill>
                  <a:srgbClr val="0B2239"/>
                </a:solidFill>
              </a:defRPr>
            </a:pPr>
            <a:r>
              <a:rPr sz="1650" b="1">
                <a:solidFill>
                  <a:srgbClr val="0B2239"/>
                </a:solidFill>
              </a:rPr>
              <a:t>‏تحلیل فایل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E326367-606D-4E1C-A1E0-64C9DA6CB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2305050"/>
            <a:ext cx="24003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5B6778"/>
                </a:solidFill>
              </a:defRPr>
            </a:pPr>
            <a:r>
              <a:rPr sz="1275" b="0">
                <a:solidFill>
                  <a:srgbClr val="5B6778"/>
                </a:solidFill>
              </a:rPr>
              <a:t>‏آپلود Excel، CSV، PDF و تصویر برای استخراج نکته، خلاصه‌سازی و کمک به تحلیل آزمایشگاهی.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5270D7F-1375-4BB5-98DC-BF561C1D7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1752600"/>
            <a:ext cx="2895600" cy="1390650"/>
          </a:xfrm>
          <a:prstGeom xmlns:a="http://schemas.openxmlformats.org/drawingml/2006/main" prst="roundRect">
            <a:avLst>
              <a:gd name="adj" fmla="val 547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9DFCCFB-DEB8-4516-8389-5FC168787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1924050"/>
            <a:ext cx="381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47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FB2C813-D730-44F2-AC3D-CEB73302B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1924050"/>
            <a:ext cx="2400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650" b="1">
                <a:solidFill>
                  <a:srgbClr val="0B2239"/>
                </a:solidFill>
              </a:defRPr>
            </a:pPr>
            <a:r>
              <a:rPr sz="1650" b="1">
                <a:solidFill>
                  <a:srgbClr val="0B2239"/>
                </a:solidFill>
              </a:rPr>
              <a:t>‏کارت محصول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B721CC4-598C-450E-9C8F-477C5F317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2305050"/>
            <a:ext cx="24003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5B6778"/>
                </a:solidFill>
              </a:defRPr>
            </a:pPr>
            <a:r>
              <a:rPr sz="1275" b="0">
                <a:solidFill>
                  <a:srgbClr val="5B6778"/>
                </a:solidFill>
              </a:rPr>
              <a:t>‏نمایش منابع مرتبط، لینک‌های سایت و دستگاه‌های پیشنهادی در کنار پاسخ چت.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21D647B-A8A7-486D-B5CF-43DCF6AD7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3543300"/>
            <a:ext cx="3143250" cy="1390650"/>
          </a:xfrm>
          <a:prstGeom xmlns:a="http://schemas.openxmlformats.org/drawingml/2006/main" prst="roundRect">
            <a:avLst>
              <a:gd name="adj" fmla="val 547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EB21675-8887-4FC0-96D1-86CBF960A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3714750"/>
            <a:ext cx="381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23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B7EB5A1-9966-4ECC-B136-FA5257170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3714750"/>
            <a:ext cx="2647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650" b="1">
                <a:solidFill>
                  <a:srgbClr val="0B2239"/>
                </a:solidFill>
              </a:defRPr>
            </a:pPr>
            <a:r>
              <a:rPr sz="1650" b="1">
                <a:solidFill>
                  <a:srgbClr val="0B2239"/>
                </a:solidFill>
              </a:rPr>
              <a:t>‏حساب مشتری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DC814A3-D82A-43DD-AFC1-7DDBE5385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4095750"/>
            <a:ext cx="26479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5B6778"/>
                </a:solidFill>
              </a:defRPr>
            </a:pPr>
            <a:r>
              <a:rPr sz="1275" b="0">
                <a:solidFill>
                  <a:srgbClr val="5B6778"/>
                </a:solidFill>
              </a:rPr>
              <a:t>‏ثبت‌نام، ورود، داشبورد، چند نشست چت و تاریخچه تعاملات برای مشتریان.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5955CE6-05F2-4272-83B4-0E10811A6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3543300"/>
            <a:ext cx="2895600" cy="1390650"/>
          </a:xfrm>
          <a:prstGeom xmlns:a="http://schemas.openxmlformats.org/drawingml/2006/main" prst="roundRect">
            <a:avLst>
              <a:gd name="adj" fmla="val 547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AF550EE-CE59-432D-B062-048D3C645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714750"/>
            <a:ext cx="381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8A8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B97F410-11C7-4083-9D8A-DD7741D0D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3714750"/>
            <a:ext cx="2400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650" b="1">
                <a:solidFill>
                  <a:srgbClr val="0B2239"/>
                </a:solidFill>
              </a:defRPr>
            </a:pPr>
            <a:r>
              <a:rPr sz="1650" b="1">
                <a:solidFill>
                  <a:srgbClr val="0B2239"/>
                </a:solidFill>
              </a:rPr>
              <a:t>‏درخواست و پیگیری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08B6A9F-0057-4F48-93AD-227B9DE01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4095750"/>
            <a:ext cx="24003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5B6778"/>
                </a:solidFill>
              </a:defRPr>
            </a:pPr>
            <a:r>
              <a:rPr sz="1275" b="0">
                <a:solidFill>
                  <a:srgbClr val="5B6778"/>
                </a:solidFill>
              </a:rPr>
              <a:t>‏ثبت درخواست تماس/استعلام، نگهداری وضعیت و پیگیری از سمت پنل مدیریت.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5E61A58-A198-423F-AD23-74D6B448B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543300"/>
            <a:ext cx="2895600" cy="1390650"/>
          </a:xfrm>
          <a:prstGeom xmlns:a="http://schemas.openxmlformats.org/drawingml/2006/main" prst="roundRect">
            <a:avLst>
              <a:gd name="adj" fmla="val 547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F89C812-C2C5-4AED-80C4-E1FC5AC52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3714750"/>
            <a:ext cx="381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A7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A792052-8DD7-40D9-AC05-B133847D5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3714750"/>
            <a:ext cx="2400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650" b="1">
                <a:solidFill>
                  <a:srgbClr val="0B2239"/>
                </a:solidFill>
              </a:defRPr>
            </a:pPr>
            <a:r>
              <a:rPr sz="1650" b="1">
                <a:solidFill>
                  <a:srgbClr val="0B2239"/>
                </a:solidFill>
              </a:rPr>
              <a:t>‏PWA و موبایل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68B77F9-B495-4E33-BECC-882338C2F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4095750"/>
            <a:ext cx="24003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5B6778"/>
                </a:solidFill>
              </a:defRPr>
            </a:pPr>
            <a:r>
              <a:rPr sz="1275" b="0">
                <a:solidFill>
                  <a:srgbClr val="5B6778"/>
                </a:solidFill>
              </a:rPr>
              <a:t>‏آماده نصب روی موبایل، تجربه RTL، حالت offline و مسیر اپلیکیشن اندروید با Capacitor.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EC2EB51-4DB3-4C74-988F-57C7B19CA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B6778"/>
                </a:solidFill>
              </a:defRPr>
            </a:pPr>
            <a:r>
              <a:rPr sz="1050" b="0">
                <a:solidFill>
                  <a:srgbClr val="5B6778"/>
                </a:solidFill>
              </a:rPr>
              <a:t>‏آرتین‌آزما مهر | معرفی دستیار هوشمند تخصصی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60E0430-F9AD-4F71-AA0C-E8FA6ECA7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62700"/>
            <a:ext cx="552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0E8A83"/>
                </a:solidFill>
              </a:defRPr>
            </a:pPr>
            <a:r>
              <a:rPr sz="1200" b="1">
                <a:solidFill>
                  <a:srgbClr val="0E8A83"/>
                </a:solidFill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20035575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4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BE2C466-A998-4631-A947-CA2019E98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10820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0E8A83"/>
                </a:solidFill>
              </a:defRPr>
            </a:pPr>
            <a:r>
              <a:rPr sz="1200" b="1">
                <a:solidFill>
                  <a:srgbClr val="0E8A83"/>
                </a:solidFill>
              </a:rPr>
              <a:t>ArtinAzma Expert Assistant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244163B-E09B-4DF4-8B0A-3A52A436A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04850"/>
            <a:ext cx="10820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2775" b="1">
                <a:solidFill>
                  <a:srgbClr val="0B2239"/>
                </a:solidFill>
              </a:defRPr>
            </a:pPr>
            <a:r>
              <a:rPr sz="2775" b="1">
                <a:solidFill>
                  <a:srgbClr val="0B2239"/>
                </a:solidFill>
              </a:rPr>
              <a:t>‏پشت صحنه پاسخ‌دهی هوشمند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A7655CE-7D39-466D-8BB3-BF5FF18B6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716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8D80244-C509-4F6F-AD1F-59EB267C1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628900"/>
            <a:ext cx="188595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29B117F-2440-4F10-AE56-EF947FB56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990850"/>
            <a:ext cx="1543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0B2239"/>
                </a:solidFill>
              </a:defRPr>
            </a:pPr>
            <a:r>
              <a:rPr sz="1575" b="1">
                <a:solidFill>
                  <a:srgbClr val="0B2239"/>
                </a:solidFill>
              </a:rPr>
              <a:t>‏تشخیص نیت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85C1610-241F-48C6-8F9D-46E357002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2952750"/>
            <a:ext cx="209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700" b="1">
                <a:solidFill>
                  <a:srgbClr val="0E8A83"/>
                </a:solidFill>
              </a:defRPr>
            </a:pPr>
            <a:r>
              <a:rPr sz="2700" b="1">
                <a:solidFill>
                  <a:srgbClr val="0E8A83"/>
                </a:solidFill>
              </a:rPr>
              <a:t>‹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1B7FE8E-93DE-4825-BDEE-6E68E6CBE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2628900"/>
            <a:ext cx="188595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4500F80-96B7-4A47-87CD-1FDFBE395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2990850"/>
            <a:ext cx="1543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0B2239"/>
                </a:solidFill>
              </a:defRPr>
            </a:pPr>
            <a:r>
              <a:rPr sz="1575" b="1">
                <a:solidFill>
                  <a:srgbClr val="0B2239"/>
                </a:solidFill>
              </a:rPr>
              <a:t>‏جست‌وجوی سریع داخلی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5FA063C-E22E-4089-AC5B-A74F62F86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2952750"/>
            <a:ext cx="209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700" b="1">
                <a:solidFill>
                  <a:srgbClr val="0E8A83"/>
                </a:solidFill>
              </a:defRPr>
            </a:pPr>
            <a:r>
              <a:rPr sz="2700" b="1">
                <a:solidFill>
                  <a:srgbClr val="0E8A83"/>
                </a:solidFill>
              </a:rPr>
              <a:t>‹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9F8A34B-CEBE-49EB-9BC8-7BB8201E0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2628900"/>
            <a:ext cx="188595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5F7C3DD-8FDA-4A7D-8B3E-92782EEAE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2990850"/>
            <a:ext cx="1543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0B2239"/>
                </a:solidFill>
              </a:defRPr>
            </a:pPr>
            <a:r>
              <a:rPr sz="1575" b="1">
                <a:solidFill>
                  <a:srgbClr val="0B2239"/>
                </a:solidFill>
              </a:rPr>
              <a:t>‏بردارهای دانش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2756E1A-496D-4EC6-95C7-E73D0C329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2952750"/>
            <a:ext cx="209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700" b="1">
                <a:solidFill>
                  <a:srgbClr val="0E8A83"/>
                </a:solidFill>
              </a:defRPr>
            </a:pPr>
            <a:r>
              <a:rPr sz="2700" b="1">
                <a:solidFill>
                  <a:srgbClr val="0E8A83"/>
                </a:solidFill>
              </a:rPr>
              <a:t>‹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C51C0C2-6A7F-4351-BC4E-34586CD02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2628900"/>
            <a:ext cx="188595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9016B4B-30D6-4E4B-BF86-A65731A8A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990850"/>
            <a:ext cx="1543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0B2239"/>
                </a:solidFill>
              </a:defRPr>
            </a:pPr>
            <a:r>
              <a:rPr sz="1575" b="1">
                <a:solidFill>
                  <a:srgbClr val="0B2239"/>
                </a:solidFill>
              </a:rPr>
              <a:t>‏منابع سایت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A1D0684-73B2-45AD-8717-5B2821091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2952750"/>
            <a:ext cx="209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700" b="1">
                <a:solidFill>
                  <a:srgbClr val="0E8A83"/>
                </a:solidFill>
              </a:defRPr>
            </a:pPr>
            <a:r>
              <a:rPr sz="2700" b="1">
                <a:solidFill>
                  <a:srgbClr val="0E8A83"/>
                </a:solidFill>
              </a:rPr>
              <a:t>‹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957E1D6-9647-4D9C-8A22-5DC9415A8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2628900"/>
            <a:ext cx="188595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397FC7A-B9F3-46CB-9F7A-B9E93B8BD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2990850"/>
            <a:ext cx="1543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0B2239"/>
                </a:solidFill>
              </a:defRPr>
            </a:pPr>
            <a:r>
              <a:rPr sz="1575" b="1">
                <a:solidFill>
                  <a:srgbClr val="0B2239"/>
                </a:solidFill>
              </a:rPr>
              <a:t>‏پاسخ مدل AI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CC2BEA4-1E58-4C48-A216-840B06A83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1676400"/>
            <a:ext cx="9677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111827"/>
                </a:solidFill>
              </a:defRPr>
            </a:pPr>
            <a:r>
              <a:rPr sz="1725" b="0">
                <a:solidFill>
                  <a:srgbClr val="111827"/>
                </a:solidFill>
              </a:rPr>
              <a:t>‏درخواست کاربر ابتدا طبقه‌بندی می‌شود؛ اگر دانش داخلی کافی باشد از همان استفاده می‌کند، و برای سوالات خاص یا به‌روز از جست‌وجوی وب/منابع بیرونی کمک می‌گیرد.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85F352A-E5AE-4E77-95CB-0F0A4E2E5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476750"/>
            <a:ext cx="9144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E8A83"/>
                </a:solidFill>
              </a:defRPr>
            </a:pPr>
            <a:r>
              <a:rPr sz="1725" b="1">
                <a:solidFill>
                  <a:srgbClr val="0E8A83"/>
                </a:solidFill>
              </a:rPr>
              <a:t>‏نتیجه: پاسخ‌ها هم سریع‌ترند، هم به دانش شرکت نزدیک‌ترند، و هم در سوالات پیچیده می‌توانند از منابع تازه‌تر کمک بگیرند.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E84F2B8-C940-4E43-A1C6-B8B44B7DA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B6778"/>
                </a:solidFill>
              </a:defRPr>
            </a:pPr>
            <a:r>
              <a:rPr sz="1050" b="0">
                <a:solidFill>
                  <a:srgbClr val="5B6778"/>
                </a:solidFill>
              </a:rPr>
              <a:t>‏آرتین‌آزما مهر | معرفی دستیار هوشمند تخصصی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3779DB3-3554-4DEE-8385-1C9AA37EA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62700"/>
            <a:ext cx="552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0E8A83"/>
                </a:solidFill>
              </a:defRPr>
            </a:pPr>
            <a:r>
              <a:rPr sz="1200" b="1">
                <a:solidFill>
                  <a:srgbClr val="0E8A83"/>
                </a:solidFill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71588922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88FE75C-7546-492C-AA82-F8106AEA6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10820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0E8A83"/>
                </a:solidFill>
              </a:defRPr>
            </a:pPr>
            <a:r>
              <a:rPr sz="1200" b="1">
                <a:solidFill>
                  <a:srgbClr val="0E8A83"/>
                </a:solidFill>
              </a:rPr>
              <a:t>ArtinAzma Expert Assistant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ABC47A2-139D-4229-827F-AD3727593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04850"/>
            <a:ext cx="10820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2775" b="1">
                <a:solidFill>
                  <a:srgbClr val="0B2239"/>
                </a:solidFill>
              </a:defRPr>
            </a:pPr>
            <a:r>
              <a:rPr sz="2775" b="1">
                <a:solidFill>
                  <a:srgbClr val="0B2239"/>
                </a:solidFill>
              </a:rPr>
              <a:t>‏قابلیت‌های مدیریتی و ادمین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78E71A0-6D24-48C9-936D-632A2C9EF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716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504035F-1B8B-49D8-8865-31034B6ED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91800" y="18669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E8A8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6077381-6362-4ABA-A965-1CE779BDD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1790700"/>
            <a:ext cx="4724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111827"/>
                </a:solidFill>
              </a:defRPr>
            </a:pPr>
            <a:r>
              <a:rPr sz="1500" b="0">
                <a:solidFill>
                  <a:srgbClr val="111827"/>
                </a:solidFill>
              </a:rPr>
              <a:t>‏مشاهده سوالات ثبت‌شده و تحلیل نیازهای پرتکرار مشتریان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B6872B6-6F2E-491C-BF18-7EBED04E4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91800" y="24574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E8A8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EC3C2BF-6F3A-4652-A96F-51EB22CF0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2381250"/>
            <a:ext cx="4724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111827"/>
                </a:solidFill>
              </a:defRPr>
            </a:pPr>
            <a:r>
              <a:rPr sz="1500" b="0">
                <a:solidFill>
                  <a:srgbClr val="111827"/>
                </a:solidFill>
              </a:rPr>
              <a:t>‏مدیریت بانک دانش: آپلود فایل، همگام‌سازی Google Drive و تعمیر embeddingها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AE20512-EB19-4C4B-A506-A187B6AC2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91800" y="30480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E8A8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BAFF5EC-B590-4E0B-8115-5E9E8F03A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2971800"/>
            <a:ext cx="4724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111827"/>
                </a:solidFill>
              </a:defRPr>
            </a:pPr>
            <a:r>
              <a:rPr sz="1500" b="0">
                <a:solidFill>
                  <a:srgbClr val="111827"/>
                </a:solidFill>
              </a:rPr>
              <a:t>‏مدیریت درخواست‌های مشتری، پیگیری، وضعیت و یادداشت‌های داخلی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77D2A81-6672-4684-B3E2-5A89481DB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91800" y="36385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E8A8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85353B9-3C63-4D10-A7C0-75BE88E42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3562350"/>
            <a:ext cx="4724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111827"/>
                </a:solidFill>
              </a:defRPr>
            </a:pPr>
            <a:r>
              <a:rPr sz="1500" b="0">
                <a:solidFill>
                  <a:srgbClr val="111827"/>
                </a:solidFill>
              </a:rPr>
              <a:t>‏داشبورد سلامت، deep health، لاگ خطا و مسیرهای پایش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1FB0BC5-C744-402B-89B6-160EAD0CA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91800" y="42291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E8A8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84D6BDE-DDDC-47D8-8919-B0FBFF28C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4152900"/>
            <a:ext cx="4724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111827"/>
                </a:solidFill>
              </a:defRPr>
            </a:pPr>
            <a:r>
              <a:rPr sz="1500" b="0">
                <a:solidFill>
                  <a:srgbClr val="111827"/>
                </a:solidFill>
              </a:rPr>
              <a:t>‏مسیر آماده برای ایمیل، تلگرام، بکاپ، مانیتورینگ و گزارش‌گیری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2E35305-B8B7-465A-82C1-C16C15664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809750"/>
            <a:ext cx="3695700" cy="2724150"/>
          </a:xfrm>
          <a:prstGeom xmlns:a="http://schemas.openxmlformats.org/drawingml/2006/main" prst="roundRect">
            <a:avLst>
              <a:gd name="adj" fmla="val 2797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7FC8B62-42B2-4DD5-B397-14E503CEB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2152650"/>
            <a:ext cx="140970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B87B457-E512-49D8-8582-1117AD7B9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2343150"/>
            <a:ext cx="952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0B2239"/>
                </a:solidFill>
              </a:defRPr>
            </a:pPr>
            <a:r>
              <a:rPr sz="2550" b="1">
                <a:solidFill>
                  <a:srgbClr val="0B2239"/>
                </a:solidFill>
              </a:rPr>
              <a:t>‏ادمین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6251487-B0EC-400E-BE39-E9D7354A1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2838450"/>
            <a:ext cx="990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5B6778"/>
                </a:solidFill>
              </a:defRPr>
            </a:pPr>
            <a:r>
              <a:rPr sz="1275" b="0">
                <a:solidFill>
                  <a:srgbClr val="5B6778"/>
                </a:solidFill>
              </a:rPr>
              <a:t>‏کنترل دانش و درخواست‌ها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4469A90-96E9-4D9E-AD76-E028BD274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2152650"/>
            <a:ext cx="140970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772B918-3B7C-45D0-8179-3BC886053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343150"/>
            <a:ext cx="952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0E8A83"/>
                </a:solidFill>
              </a:defRPr>
            </a:pPr>
            <a:r>
              <a:rPr sz="2550" b="1">
                <a:solidFill>
                  <a:srgbClr val="0E8A83"/>
                </a:solidFill>
              </a:rPr>
              <a:t>‏مشتری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F6D49ED-9FE9-4644-9640-7F1958B61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2838450"/>
            <a:ext cx="990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5B6778"/>
                </a:solidFill>
              </a:defRPr>
            </a:pPr>
            <a:r>
              <a:rPr sz="1275" b="0">
                <a:solidFill>
                  <a:srgbClr val="5B6778"/>
                </a:solidFill>
              </a:rPr>
              <a:t>‏چت، تحلیل و پیگیری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201AD06-21A3-43E3-9D73-9FA6C3B38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3524250"/>
            <a:ext cx="140970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4527F69-7FC6-45EC-BD5A-E4420EE06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3714750"/>
            <a:ext cx="952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E2A72E"/>
                </a:solidFill>
              </a:defRPr>
            </a:pPr>
            <a:r>
              <a:rPr sz="2550" b="1">
                <a:solidFill>
                  <a:srgbClr val="E2A72E"/>
                </a:solidFill>
              </a:rPr>
              <a:t>‏مدیر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BE1CD0A-0BF2-4441-89FF-60B8A2BDA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4210050"/>
            <a:ext cx="990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5B6778"/>
                </a:solidFill>
              </a:defRPr>
            </a:pPr>
            <a:r>
              <a:rPr sz="1275" b="0">
                <a:solidFill>
                  <a:srgbClr val="5B6778"/>
                </a:solidFill>
              </a:rPr>
              <a:t>‏پایش و تصمیم‌گیری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A95150A-FCBD-4E73-92B9-C292652BB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B6778"/>
                </a:solidFill>
              </a:defRPr>
            </a:pPr>
            <a:r>
              <a:rPr sz="1050" b="0">
                <a:solidFill>
                  <a:srgbClr val="5B6778"/>
                </a:solidFill>
              </a:rPr>
              <a:t>‏آرتین‌آزما مهر | معرفی دستیار هوشمند تخصصی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2E4F019-4151-4279-9054-4F23A4FCE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62700"/>
            <a:ext cx="552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0E8A83"/>
                </a:solidFill>
              </a:defRPr>
            </a:pPr>
            <a:r>
              <a:rPr sz="1200" b="1">
                <a:solidFill>
                  <a:srgbClr val="0E8A83"/>
                </a:solidFill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62539520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4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48854F3-F605-46D5-8AE0-8968466E8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10820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0E8A83"/>
                </a:solidFill>
              </a:defRPr>
            </a:pPr>
            <a:r>
              <a:rPr sz="1200" b="1">
                <a:solidFill>
                  <a:srgbClr val="0E8A83"/>
                </a:solidFill>
              </a:rPr>
              <a:t>ArtinAzma Expert Assistant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CDEED93-7CC7-48B2-8304-84A83F902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04850"/>
            <a:ext cx="10820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2775" b="1">
                <a:solidFill>
                  <a:srgbClr val="0B2239"/>
                </a:solidFill>
              </a:defRPr>
            </a:pPr>
            <a:r>
              <a:rPr sz="2775" b="1">
                <a:solidFill>
                  <a:srgbClr val="0B2239"/>
                </a:solidFill>
              </a:rPr>
              <a:t>‏معماری و فناوری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F7FDBC3-C965-4C6D-A3F9-DA3B46563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716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6ADEA3C-F079-4662-847C-566D58E33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47850"/>
            <a:ext cx="358140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31E7564-36D2-4461-9779-360FBA355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2019300"/>
            <a:ext cx="381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23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9A1D11D-E57A-4AA1-BB4F-E4E3DFF7A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2019300"/>
            <a:ext cx="3086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650" b="1">
                <a:solidFill>
                  <a:srgbClr val="0B2239"/>
                </a:solidFill>
              </a:defRPr>
            </a:pPr>
            <a:r>
              <a:rPr sz="1650" b="1">
                <a:solidFill>
                  <a:srgbClr val="0B2239"/>
                </a:solidFill>
              </a:rPr>
              <a:t>Backend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9F26753-8727-4796-B83C-7F35C0DB6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2400300"/>
            <a:ext cx="30861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5B6778"/>
                </a:solidFill>
              </a:defRPr>
            </a:pPr>
            <a:r>
              <a:rPr sz="1275" b="0">
                <a:solidFill>
                  <a:srgbClr val="5B6778"/>
                </a:solidFill>
              </a:rPr>
              <a:t>‏FastAPI، SQLite/PostgreSQL، سرویس‌های دانش، intent، AI، امنیت، rate limit و health check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0A8B270-19A3-42D1-AC41-BB0D3CDC8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505200"/>
            <a:ext cx="358140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7AA4BE7-03CF-4000-8C80-86BD161AE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3676650"/>
            <a:ext cx="381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8A8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7C4B0D2-BF40-4E2A-BCD7-D7831A2DE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3676650"/>
            <a:ext cx="3086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650" b="1">
                <a:solidFill>
                  <a:srgbClr val="0B2239"/>
                </a:solidFill>
              </a:defRPr>
            </a:pPr>
            <a:r>
              <a:rPr sz="1650" b="1">
                <a:solidFill>
                  <a:srgbClr val="0B2239"/>
                </a:solidFill>
              </a:rPr>
              <a:t>Frontend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CE93A5C-986A-47C3-8325-65BC99761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4057650"/>
            <a:ext cx="30861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5B6778"/>
                </a:solidFill>
              </a:defRPr>
            </a:pPr>
            <a:r>
              <a:rPr sz="1275" b="0">
                <a:solidFill>
                  <a:srgbClr val="5B6778"/>
                </a:solidFill>
              </a:rPr>
              <a:t>‏Next.js 16، React 19، App Router، RTL، Tailwind v4، PWA و مسیر موبایل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551A414-01C3-4466-90CE-37D92D808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1847850"/>
            <a:ext cx="501015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3351322-D978-46B2-9620-2A86859C0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019300"/>
            <a:ext cx="381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A7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62EB188-52BC-4B89-A70D-203B4B6D6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2019300"/>
            <a:ext cx="4514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650" b="1">
                <a:solidFill>
                  <a:srgbClr val="0B2239"/>
                </a:solidFill>
              </a:defRPr>
            </a:pPr>
            <a:r>
              <a:rPr sz="1650" b="1">
                <a:solidFill>
                  <a:srgbClr val="0B2239"/>
                </a:solidFill>
              </a:rPr>
              <a:t>AI Layer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4CB4DD4-6AAD-4F46-8070-CEE506E2A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2400300"/>
            <a:ext cx="45148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5B6778"/>
                </a:solidFill>
              </a:defRPr>
            </a:pPr>
            <a:r>
              <a:rPr sz="1275" b="0">
                <a:solidFill>
                  <a:srgbClr val="5B6778"/>
                </a:solidFill>
              </a:rPr>
              <a:t>‏Responses API، مدل GPT-5.1، embedding، جست‌وجوی داخلی و web_search_preview برای سوالات لازم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284F3F3-A2DA-4387-92E3-2569E1399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505200"/>
            <a:ext cx="501015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65DC324-41CE-40EE-982D-00F273E38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676650"/>
            <a:ext cx="381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47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6447B1F-7249-43FC-8F68-79D432E4E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3676650"/>
            <a:ext cx="4514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650" b="1">
                <a:solidFill>
                  <a:srgbClr val="0B2239"/>
                </a:solidFill>
              </a:defRPr>
            </a:pPr>
            <a:r>
              <a:rPr sz="1650" b="1">
                <a:solidFill>
                  <a:srgbClr val="0B2239"/>
                </a:solidFill>
              </a:rPr>
              <a:t>Operations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285F983-CD72-41C1-BB2E-B52EA67E3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4057650"/>
            <a:ext cx="45148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5B6778"/>
                </a:solidFill>
              </a:defRPr>
            </a:pPr>
            <a:r>
              <a:rPr sz="1275" b="0">
                <a:solidFill>
                  <a:srgbClr val="5B6778"/>
                </a:solidFill>
              </a:rPr>
              <a:t>‏Docker Compose، nginx، monitoring با Prometheus/Grafana، backup و اسکریپت‌های release check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230DE61-51B2-41D3-B5F6-2EE7D892F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B6778"/>
                </a:solidFill>
              </a:defRPr>
            </a:pPr>
            <a:r>
              <a:rPr sz="1050" b="0">
                <a:solidFill>
                  <a:srgbClr val="5B6778"/>
                </a:solidFill>
              </a:rPr>
              <a:t>‏آرتین‌آزما مهر | معرفی دستیار هوشمند تخصصی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7299430-337C-489D-8308-EE27953BD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62700"/>
            <a:ext cx="552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0E8A83"/>
                </a:solidFill>
              </a:defRPr>
            </a:pPr>
            <a:r>
              <a:rPr sz="1200" b="1">
                <a:solidFill>
                  <a:srgbClr val="0E8A83"/>
                </a:solidFill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84746069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1B4DD59-F42E-4502-BF05-7813EB7A6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10820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0E8A83"/>
                </a:solidFill>
              </a:defRPr>
            </a:pPr>
            <a:r>
              <a:rPr sz="1200" b="1">
                <a:solidFill>
                  <a:srgbClr val="0E8A83"/>
                </a:solidFill>
              </a:rPr>
              <a:t>ArtinAzma Expert Assistant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D1D43D4-AEF1-4D64-90A2-0371E1161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04850"/>
            <a:ext cx="10820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2775" b="1">
                <a:solidFill>
                  <a:srgbClr val="0B2239"/>
                </a:solidFill>
              </a:defRPr>
            </a:pPr>
            <a:r>
              <a:rPr sz="2775" b="1">
                <a:solidFill>
                  <a:srgbClr val="0B2239"/>
                </a:solidFill>
              </a:rPr>
              <a:t>‏امنیت و آمادگی عملیاتی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3DD33F4-4676-4C53-B941-A7FE0BC22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716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E28B9F6-CE4F-42F3-9C52-1390D3F0E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1809750"/>
            <a:ext cx="236220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9044241-544C-4081-A4B5-4F40A4AD9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2000250"/>
            <a:ext cx="1905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0E8A83"/>
                </a:solidFill>
              </a:defRPr>
            </a:pPr>
            <a:r>
              <a:rPr sz="2550" b="1">
                <a:solidFill>
                  <a:srgbClr val="0E8A83"/>
                </a:solidFill>
              </a:rPr>
              <a:t>20/min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10B1C1E-3C7A-4785-8802-4C4BB3F5D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495550"/>
            <a:ext cx="1943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5B6778"/>
                </a:solidFill>
              </a:defRPr>
            </a:pPr>
            <a:r>
              <a:rPr sz="1275" b="0">
                <a:solidFill>
                  <a:srgbClr val="5B6778"/>
                </a:solidFill>
              </a:rPr>
              <a:t>‏محدودیت نرخ چت برای هر IP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5127348-B11D-4CDB-9570-203369C74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1809750"/>
            <a:ext cx="266700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D3CEED8-B1B7-4F73-B05A-8FFD07E33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2000250"/>
            <a:ext cx="22098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0B2239"/>
                </a:solidFill>
              </a:defRPr>
            </a:pPr>
            <a:r>
              <a:rPr sz="2550" b="1">
                <a:solidFill>
                  <a:srgbClr val="0B2239"/>
                </a:solidFill>
              </a:rPr>
              <a:t>X-Admin-Key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B28F1F9-8346-4F50-B82D-91C87FA47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2495550"/>
            <a:ext cx="2247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5B6778"/>
                </a:solidFill>
              </a:defRPr>
            </a:pPr>
            <a:r>
              <a:rPr sz="1275" b="0">
                <a:solidFill>
                  <a:srgbClr val="5B6778"/>
                </a:solidFill>
              </a:rPr>
              <a:t>‏محافظت endpointهای ادمین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13E4A96-1FA7-447F-8D32-0ECAE6B29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1809750"/>
            <a:ext cx="266700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CCF13FD-162C-45EA-9B44-856225C30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2000250"/>
            <a:ext cx="22098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E2A72E"/>
                </a:solidFill>
              </a:defRPr>
            </a:pPr>
            <a:r>
              <a:rPr sz="2550" b="1">
                <a:solidFill>
                  <a:srgbClr val="E2A72E"/>
                </a:solidFill>
              </a:rPr>
              <a:t>Cookie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3106417-B4D2-428D-B517-CB1E40583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2495550"/>
            <a:ext cx="2247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5B6778"/>
                </a:solidFill>
              </a:defRPr>
            </a:pPr>
            <a:r>
              <a:rPr sz="1275" b="0">
                <a:solidFill>
                  <a:srgbClr val="5B6778"/>
                </a:solidFill>
              </a:rPr>
              <a:t>‏ورود ادمین بدون افشای کلید در مرورگر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D2612C6-6912-4142-B033-1188B4F63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714750"/>
            <a:ext cx="91440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798F700-3C6A-4F76-AF81-2058E2127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91800" y="3886200"/>
            <a:ext cx="381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8A8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B34A831-0E8E-4FDC-85EE-464CB3AF3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3886200"/>
            <a:ext cx="8648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650" b="1">
                <a:solidFill>
                  <a:srgbClr val="0B2239"/>
                </a:solidFill>
              </a:defRPr>
            </a:pPr>
            <a:r>
              <a:rPr sz="1650" b="1">
                <a:solidFill>
                  <a:srgbClr val="0B2239"/>
                </a:solidFill>
              </a:rPr>
              <a:t>‏کنترل‌های مهم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7745B03-6203-4055-A651-3129397DB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4267200"/>
            <a:ext cx="86487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5B6778"/>
                </a:solidFill>
              </a:defRPr>
            </a:pPr>
            <a:r>
              <a:rPr sz="1275" b="0">
                <a:solidFill>
                  <a:srgbClr val="5B6778"/>
                </a:solidFill>
              </a:rPr>
              <a:t>‏CORS قابل تنظیم، هش رمز با bcrypt، جداسازی کلیدهای محیطی، اسکن secret، health/deep-health و مسیرهای مانیتورینگ.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DC68FF1-659A-4E66-97E8-03822A606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5162550"/>
            <a:ext cx="88392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D9473D"/>
                </a:solidFill>
              </a:defRPr>
            </a:pPr>
            <a:r>
              <a:rPr sz="1500" b="0">
                <a:solidFill>
                  <a:srgbClr val="D9473D"/>
                </a:solidFill>
              </a:rPr>
              <a:t>‏برای production، مقدارهای محیطی مثل ENVIRONMENT، COOKIE_SECURE، FRONTEND_ORIGINS، JWT/CSRF و TLS باید روی سرور نهایی تایید شوند.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ECBDFAF-1AB6-497A-821D-4DF446148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B6778"/>
                </a:solidFill>
              </a:defRPr>
            </a:pPr>
            <a:r>
              <a:rPr sz="1050" b="0">
                <a:solidFill>
                  <a:srgbClr val="5B6778"/>
                </a:solidFill>
              </a:rPr>
              <a:t>‏آرتین‌آزما مهر | معرفی دستیار هوشمند تخصصی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ADBECD2-7E27-418D-B75F-B6A0F06B7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62700"/>
            <a:ext cx="552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0E8A83"/>
                </a:solidFill>
              </a:defRPr>
            </a:pPr>
            <a:r>
              <a:rPr sz="1200" b="1">
                <a:solidFill>
                  <a:srgbClr val="0E8A83"/>
                </a:solidFill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442009660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4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7BB77E5-ABDB-43C4-AABB-60411AF8A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10820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0E8A83"/>
                </a:solidFill>
              </a:defRPr>
            </a:pPr>
            <a:r>
              <a:rPr sz="1200" b="1">
                <a:solidFill>
                  <a:srgbClr val="0E8A83"/>
                </a:solidFill>
              </a:rPr>
              <a:t>ArtinAzma Expert Assistant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54B156E-333F-49B6-8BF5-DF901457F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04850"/>
            <a:ext cx="10820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2775" b="1">
                <a:solidFill>
                  <a:srgbClr val="0B2239"/>
                </a:solidFill>
              </a:defRPr>
            </a:pPr>
            <a:r>
              <a:rPr sz="2775" b="1">
                <a:solidFill>
                  <a:srgbClr val="0B2239"/>
                </a:solidFill>
              </a:rPr>
              <a:t>‏وضعیت فعلی و شواهد تست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D231B19-ED26-4B63-B1E0-DE156A308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716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80FCF1F-196A-445F-97C5-9819854A9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1809750"/>
            <a:ext cx="219075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A7F9117-D3A7-4441-9820-836050444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2000250"/>
            <a:ext cx="17335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0E8A83"/>
                </a:solidFill>
              </a:defRPr>
            </a:pPr>
            <a:r>
              <a:rPr sz="2550" b="1">
                <a:solidFill>
                  <a:srgbClr val="0E8A83"/>
                </a:solidFill>
              </a:rPr>
              <a:t>147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E5BB529-CA27-4B2A-8711-C3418FA28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2495550"/>
            <a:ext cx="17716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5B6778"/>
                </a:solidFill>
              </a:defRPr>
            </a:pPr>
            <a:r>
              <a:rPr sz="1275" b="0">
                <a:solidFill>
                  <a:srgbClr val="5B6778"/>
                </a:solidFill>
              </a:rPr>
              <a:t>‏تست backend پاس شده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7D301FC-B2B6-47B5-BDD4-1BF2DEAD2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1809750"/>
            <a:ext cx="219075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0F75303-4D01-42C6-962A-8E1672627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2000250"/>
            <a:ext cx="17335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0E8A83"/>
                </a:solidFill>
              </a:defRPr>
            </a:pPr>
            <a:r>
              <a:rPr sz="2550" b="1">
                <a:solidFill>
                  <a:srgbClr val="0E8A83"/>
                </a:solidFill>
              </a:rPr>
              <a:t>63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2A9B9BB-B395-49F9-82F4-480BD7FF3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2495550"/>
            <a:ext cx="17716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5B6778"/>
                </a:solidFill>
              </a:defRPr>
            </a:pPr>
            <a:r>
              <a:rPr sz="1275" b="0">
                <a:solidFill>
                  <a:srgbClr val="5B6778"/>
                </a:solidFill>
              </a:rPr>
              <a:t>‏تست frontend پاس شده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C590D97-D333-47BD-ABA1-27CC79A76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1809750"/>
            <a:ext cx="219075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E5DBFEE-C0AF-4A1E-9E2A-3AE9169CF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000250"/>
            <a:ext cx="17335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E2A72E"/>
                </a:solidFill>
              </a:defRPr>
            </a:pPr>
            <a:r>
              <a:rPr sz="2550" b="1">
                <a:solidFill>
                  <a:srgbClr val="E2A72E"/>
                </a:solidFill>
              </a:rPr>
              <a:t>39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1B3B4D7-2F2B-41A7-9434-D6FB2A92C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2495550"/>
            <a:ext cx="17716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5B6778"/>
                </a:solidFill>
              </a:defRPr>
            </a:pPr>
            <a:r>
              <a:rPr sz="1275" b="0">
                <a:solidFill>
                  <a:srgbClr val="5B6778"/>
                </a:solidFill>
              </a:rPr>
              <a:t>‏route در build تولیدی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9343B6A-FC92-4730-88AF-B60B29174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809750"/>
            <a:ext cx="219075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C373B6D-DCC6-4021-8B7A-5FDF8C46D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000250"/>
            <a:ext cx="17335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0B2239"/>
                </a:solidFill>
              </a:defRPr>
            </a:pPr>
            <a:r>
              <a:rPr sz="2550" b="1">
                <a:solidFill>
                  <a:srgbClr val="0B2239"/>
                </a:solidFill>
              </a:rPr>
              <a:t>A-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B8E65BD-A77A-40C4-B2D5-9EAEBB032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495550"/>
            <a:ext cx="17716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5B6778"/>
                </a:solidFill>
              </a:defRPr>
            </a:pPr>
            <a:r>
              <a:rPr sz="1275" b="0">
                <a:solidFill>
                  <a:srgbClr val="5B6778"/>
                </a:solidFill>
              </a:rPr>
              <a:t>‏ارزیابی آمادگی فنی قبلی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FA419B7-D8B5-4E0A-9F43-5773A794F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3695700"/>
            <a:ext cx="438150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DAA2160-3123-4945-8B0D-690541BC2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9400" y="3867150"/>
            <a:ext cx="381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8A8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D580440-0A2C-4509-9A5C-9F1C695F8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867150"/>
            <a:ext cx="3886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650" b="1">
                <a:solidFill>
                  <a:srgbClr val="0B2239"/>
                </a:solidFill>
              </a:defRPr>
            </a:pPr>
            <a:r>
              <a:rPr sz="1650" b="1">
                <a:solidFill>
                  <a:srgbClr val="0B2239"/>
                </a:solidFill>
              </a:rPr>
              <a:t>‏جمع‌بندی سلامت کد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6E6EAD9-53E6-43B4-8543-21175C742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4248150"/>
            <a:ext cx="38862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5B6778"/>
                </a:solidFill>
              </a:defRPr>
            </a:pPr>
            <a:r>
              <a:rPr sz="1275" b="0">
                <a:solidFill>
                  <a:srgbClr val="5B6778"/>
                </a:solidFill>
              </a:rPr>
              <a:t>‏در بررسی ۲۱ ژوئن ۲۰۲۶، lint، TypeScript، Vitest، pytest و build تولیدی با موفقیت اجرا شدند. این یعنی پایه فنی پروژه سالم است.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F37C944-A820-436A-A4B1-279411E12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3695700"/>
            <a:ext cx="409575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152A6D8-0163-478B-8DFC-7B0536E42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3867150"/>
            <a:ext cx="381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47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2B0FD4F-5CF2-44D7-B389-A73B0ED45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3867150"/>
            <a:ext cx="3600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650" b="1">
                <a:solidFill>
                  <a:srgbClr val="0B2239"/>
                </a:solidFill>
              </a:defRPr>
            </a:pPr>
            <a:r>
              <a:rPr sz="1650" b="1">
                <a:solidFill>
                  <a:srgbClr val="0B2239"/>
                </a:solidFill>
              </a:rPr>
              <a:t>‏نکته مهم دیپلوی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3F70534-CC1D-4420-9A85-6269AA8A0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4248150"/>
            <a:ext cx="3600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5B6778"/>
                </a:solidFill>
              </a:defRPr>
            </a:pPr>
            <a:r>
              <a:rPr sz="1275" b="0">
                <a:solidFill>
                  <a:srgbClr val="5B6778"/>
                </a:solidFill>
              </a:rPr>
              <a:t>‏اتصال دامنه قبلی به سطح شبکه/سرویس گیر داشت: DNS resolve می‌شد اما پورت‌های 80 و 443 پاسخ نمی‌دادند؛ بنابراین مسئله از جنس nginx/container/firewall بود، نه routeهای اپ.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5CC572D-580B-4ACF-AD84-61FC44A4C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B6778"/>
                </a:solidFill>
              </a:defRPr>
            </a:pPr>
            <a:r>
              <a:rPr sz="1050" b="0">
                <a:solidFill>
                  <a:srgbClr val="5B6778"/>
                </a:solidFill>
              </a:rPr>
              <a:t>‏آرتین‌آزما مهر | معرفی دستیار هوشمند تخصصی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5DDF9F5-58E6-44A7-AD25-C2761B8E4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62700"/>
            <a:ext cx="552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0E8A83"/>
                </a:solidFill>
              </a:defRPr>
            </a:pPr>
            <a:r>
              <a:rPr sz="1200" b="1">
                <a:solidFill>
                  <a:srgbClr val="0E8A83"/>
                </a:solidFill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858688425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986AA8A-8CB6-492C-A61C-6BA770726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10820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0E8A83"/>
                </a:solidFill>
              </a:defRPr>
            </a:pPr>
            <a:r>
              <a:rPr sz="1200" b="1">
                <a:solidFill>
                  <a:srgbClr val="0E8A83"/>
                </a:solidFill>
              </a:rPr>
              <a:t>ArtinAzma Expert Assistant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64D6386-8C2B-4304-9654-85D91CD20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04850"/>
            <a:ext cx="10820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2775" b="1">
                <a:solidFill>
                  <a:srgbClr val="0B2239"/>
                </a:solidFill>
              </a:defRPr>
            </a:pPr>
            <a:r>
              <a:rPr sz="2775" b="1">
                <a:solidFill>
                  <a:srgbClr val="0B2239"/>
                </a:solidFill>
              </a:rPr>
              <a:t>‏قدم‌های بعدی پیشنهادی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DA051EF-E7D1-451A-9209-F58C526DF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716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DE5A726-D9DD-431B-AAFD-86CF4040F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1676400"/>
            <a:ext cx="533400" cy="533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E8A8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0019615-0832-414B-AE08-28937FF2D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1781175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</a:defRPr>
            </a:pPr>
            <a:r>
              <a:rPr sz="1725" b="1">
                <a:solidFill>
                  <a:srgbClr val="FFFFFF"/>
                </a:solidFill>
              </a:rPr>
              <a:t>‏۱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FB82A04-427C-4FCE-9F44-03E550AE3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1657350"/>
            <a:ext cx="7315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800" b="1">
                <a:solidFill>
                  <a:srgbClr val="0B2239"/>
                </a:solidFill>
              </a:defRPr>
            </a:pPr>
            <a:r>
              <a:rPr sz="1800" b="1">
                <a:solidFill>
                  <a:srgbClr val="0B2239"/>
                </a:solidFill>
              </a:rPr>
              <a:t>‏تکمیل تنظیمات production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F963DB2-3E91-4B6C-8AEB-892BB5AD7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1981200"/>
            <a:ext cx="7315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5B6778"/>
                </a:solidFill>
              </a:defRPr>
            </a:pPr>
            <a:r>
              <a:rPr sz="1350" b="0">
                <a:solidFill>
                  <a:srgbClr val="5B6778"/>
                </a:solidFill>
              </a:rPr>
              <a:t>‏env، TLS، CORS، secure cookie، secretها و smoke test واقعی دامنه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4D8A4A7-7C3F-498A-9CDD-CF421578E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2705100"/>
            <a:ext cx="533400" cy="533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E8A8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23088FA-A1A3-4F23-AC4C-ABF3C5ECC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2809875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</a:defRPr>
            </a:pPr>
            <a:r>
              <a:rPr sz="1725" b="1">
                <a:solidFill>
                  <a:srgbClr val="FFFFFF"/>
                </a:solidFill>
              </a:rPr>
              <a:t>‏۲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4DADC9E-651F-4C71-BD30-64F1F6928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2686050"/>
            <a:ext cx="7315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800" b="1">
                <a:solidFill>
                  <a:srgbClr val="0B2239"/>
                </a:solidFill>
              </a:defRPr>
            </a:pPr>
            <a:r>
              <a:rPr sz="1800" b="1">
                <a:solidFill>
                  <a:srgbClr val="0B2239"/>
                </a:solidFill>
              </a:rPr>
              <a:t>‏تکمیل محتوای دانش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DE56546-B81A-4444-9AB6-C3ADACE17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3009900"/>
            <a:ext cx="7315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5B6778"/>
                </a:solidFill>
              </a:defRPr>
            </a:pPr>
            <a:r>
              <a:rPr sz="1350" b="0">
                <a:solidFill>
                  <a:srgbClr val="5B6778"/>
                </a:solidFill>
              </a:rPr>
              <a:t>‏بازبینی عکس‌های محصول، eval کیفیت پاسخ و افزودن اسناد فروش/فنی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797AAD8-847F-4754-8CE8-F1B7E77B3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3733800"/>
            <a:ext cx="533400" cy="533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E8A8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905663E-1AE7-42C7-9669-5EBE68859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3838575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</a:defRPr>
            </a:pPr>
            <a:r>
              <a:rPr sz="1725" b="1">
                <a:solidFill>
                  <a:srgbClr val="FFFFFF"/>
                </a:solidFill>
              </a:rPr>
              <a:t>‏۳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1F7F4B4-140F-4E89-8DED-1A7968654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3714750"/>
            <a:ext cx="7315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800" b="1">
                <a:solidFill>
                  <a:srgbClr val="0B2239"/>
                </a:solidFill>
              </a:defRPr>
            </a:pPr>
            <a:r>
              <a:rPr sz="1800" b="1">
                <a:solidFill>
                  <a:srgbClr val="0B2239"/>
                </a:solidFill>
              </a:rPr>
              <a:t>‏پایش و عملیات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C67E9A2-CEE2-4AC8-87F5-33DFDB153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4038600"/>
            <a:ext cx="7315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5B6778"/>
                </a:solidFill>
              </a:defRPr>
            </a:pPr>
            <a:r>
              <a:rPr sz="1350" b="0">
                <a:solidFill>
                  <a:srgbClr val="5B6778"/>
                </a:solidFill>
              </a:rPr>
              <a:t>‏فعال‌سازی alertها، تست restore بکاپ و مشاهده داشبوردهای Grafana/Sentry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3EA21FF-AB76-4575-8875-D15575889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4762500"/>
            <a:ext cx="533400" cy="533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E8A8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EB4CAA4-DBA2-4E24-8A35-3209899A2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4867275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</a:defRPr>
            </a:pPr>
            <a:r>
              <a:rPr sz="1725" b="1">
                <a:solidFill>
                  <a:srgbClr val="FFFFFF"/>
                </a:solidFill>
              </a:rPr>
              <a:t>‏۴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DFD076E-9B83-43F4-BF0C-89DF60752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4743450"/>
            <a:ext cx="7315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800" b="1">
                <a:solidFill>
                  <a:srgbClr val="0B2239"/>
                </a:solidFill>
              </a:defRPr>
            </a:pPr>
            <a:r>
              <a:rPr sz="1800" b="1">
                <a:solidFill>
                  <a:srgbClr val="0B2239"/>
                </a:solidFill>
              </a:rPr>
              <a:t>‏بهبود تجربه و مقیاس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37E908D-A254-44F2-9FFA-F45E764EC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5067300"/>
            <a:ext cx="7315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5B6778"/>
                </a:solidFill>
              </a:defRPr>
            </a:pPr>
            <a:r>
              <a:rPr sz="1350" b="0">
                <a:solidFill>
                  <a:srgbClr val="5B6778"/>
                </a:solidFill>
              </a:rPr>
              <a:t>‏Qdrant/Redis، سبک‌سازی صفحه‌های بزرگ admin و بهبود موبایل/RTL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756994B-A93F-4C65-B990-35AF9F8F8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5772150"/>
            <a:ext cx="796290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0B2239"/>
          </a:solidFill>
          <a:ln xmlns:a="http://schemas.openxmlformats.org/drawingml/2006/main" w="9525">
            <a:solidFill>
              <a:srgbClr val="0B2239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E2161A6-A4D2-480A-B902-443E54A1C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5905500"/>
            <a:ext cx="7429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</a:rPr>
              <a:t>‏درخواست تصمیم: تایید مسیر Go-Live، مالکیت عملیات، و برنامه توسعه نسخه بعد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2D3C253-6278-4E91-BE61-CA2211E41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B6778"/>
                </a:solidFill>
              </a:defRPr>
            </a:pPr>
            <a:r>
              <a:rPr sz="1050" b="0">
                <a:solidFill>
                  <a:srgbClr val="5B6778"/>
                </a:solidFill>
              </a:rPr>
              <a:t>‏آرتین‌آزما مهر | معرفی دستیار هوشمند تخصصی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330AAC4-E4FB-4153-8CA1-BA4ACF2E5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62700"/>
            <a:ext cx="552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0E8A83"/>
                </a:solidFill>
              </a:defRPr>
            </a:pPr>
            <a:r>
              <a:rPr sz="1200" b="1">
                <a:solidFill>
                  <a:srgbClr val="0E8A83"/>
                </a:solidFill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65367225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2026-06-22T11:06:03.2580000Z</dcterms:created>
  <dcterms:modified xsi:type="dcterms:W3CDTF">2026-06-22T11:06:03.2580000Z</dcterms:modified>
</coreProperties>
</file>